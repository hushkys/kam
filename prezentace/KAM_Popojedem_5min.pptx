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kruh"/>
          <p:cNvSpPr/>
          <p:nvPr/>
        </p:nvSpPr>
        <p:spPr>
          <a:xfrm>
            <a:off x="6766560" y="-1645920"/>
            <a:ext cx="7680960" cy="7680960"/>
          </a:xfrm>
          <a:prstGeom prst="ellipse">
            <a:avLst/>
          </a:prstGeom>
          <a:solidFill>
            <a:srgbClr val="8EE06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ruh2"/>
          <p:cNvSpPr/>
          <p:nvPr/>
        </p:nvSpPr>
        <p:spPr>
          <a:xfrm>
            <a:off x="11247120" y="5943600"/>
            <a:ext cx="548640" cy="548640"/>
          </a:xfrm>
          <a:prstGeom prst="ellipse">
            <a:avLst/>
          </a:prstGeom>
          <a:solidFill>
            <a:srgbClr val="FF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!!obr1" descr="scen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0" y="914400"/>
            <a:ext cx="4572000" cy="3197013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pic>
        <p:nvPicPr>
          <p:cNvPr id="5" name="!!obr2" descr="pruvod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0" y="914400"/>
            <a:ext cx="4572000" cy="3197013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pic>
        <p:nvPicPr>
          <p:cNvPr id="6" name="!!obr3" descr="hospodaren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0" y="914400"/>
            <a:ext cx="4572000" cy="3197013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pic>
        <p:nvPicPr>
          <p:cNvPr id="7" name="!!obr4" descr="plan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00" y="914400"/>
            <a:ext cx="4572000" cy="3197013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sp>
        <p:nvSpPr>
          <p:cNvPr id="8" name="!!velky"/>
          <p:cNvSpPr txBox="1"/>
          <p:nvPr/>
        </p:nvSpPr>
        <p:spPr>
          <a:xfrm>
            <a:off x="731520" y="914400"/>
            <a:ext cx="10972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3000">
                <a:solidFill>
                  <a:srgbClr val="F4F4F2"/>
                </a:solidFill>
                <a:latin typeface="Segoe UI Black"/>
              </a:rPr>
              <a:t>Popojedem</a:t>
            </a:r>
            <a:r>
              <a:rPr sz="13000">
                <a:solidFill>
                  <a:srgbClr val="8EE06A"/>
                </a:solidFill>
                <a:latin typeface="Segoe UI Black"/>
              </a:rPr>
              <a:t>.</a:t>
            </a:r>
          </a:p>
        </p:txBody>
      </p:sp>
      <p:sp>
        <p:nvSpPr>
          <p:cNvPr id="9" name="!!sub"/>
          <p:cNvSpPr txBox="1"/>
          <p:nvPr/>
        </p:nvSpPr>
        <p:spPr>
          <a:xfrm>
            <a:off x="777240" y="29718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>
                <a:solidFill>
                  <a:srgbClr val="8B9099"/>
                </a:solidFill>
                <a:latin typeface="Segoe UI"/>
              </a:rPr>
              <a:t>KAM — Krajský analytický model</a:t>
            </a:r>
          </a:p>
          <a:p>
            <a:pPr algn="l">
              <a:lnSpc>
                <a:spcPct val="105000"/>
              </a:lnSpc>
            </a:pPr>
            <a:r>
              <a:rPr sz="2600">
                <a:solidFill>
                  <a:srgbClr val="8B9099"/>
                </a:solidFill>
                <a:latin typeface="Segoe UI"/>
              </a:rPr>
              <a:t>otevřená data kraje, srozumitelně pro obce i veřejnost</a:t>
            </a:r>
          </a:p>
        </p:txBody>
      </p:sp>
      <p:sp>
        <p:nvSpPr>
          <p:cNvPr id="10" name="!!c1"/>
          <p:cNvSpPr txBox="1"/>
          <p:nvPr/>
        </p:nvSpPr>
        <p:spPr>
          <a:xfrm>
            <a:off x="777240" y="4343400"/>
            <a:ext cx="27432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000">
                <a:solidFill>
                  <a:srgbClr val="8EE06A"/>
                </a:solidFill>
                <a:latin typeface="Segoe UI Black"/>
              </a:rPr>
              <a:t>19 344</a:t>
            </a:r>
          </a:p>
        </p:txBody>
      </p:sp>
      <p:sp>
        <p:nvSpPr>
          <p:cNvPr id="11" name="!!l1"/>
          <p:cNvSpPr txBox="1"/>
          <p:nvPr/>
        </p:nvSpPr>
        <p:spPr>
          <a:xfrm>
            <a:off x="777240" y="497840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>
                <a:solidFill>
                  <a:srgbClr val="8B9099"/>
                </a:solidFill>
                <a:latin typeface="Segoe UI"/>
              </a:rPr>
              <a:t>funkčních datových sad</a:t>
            </a:r>
          </a:p>
        </p:txBody>
      </p:sp>
      <p:sp>
        <p:nvSpPr>
          <p:cNvPr id="12" name="!!c2"/>
          <p:cNvSpPr txBox="1"/>
          <p:nvPr/>
        </p:nvSpPr>
        <p:spPr>
          <a:xfrm>
            <a:off x="3611880" y="4343400"/>
            <a:ext cx="27432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000">
                <a:solidFill>
                  <a:srgbClr val="F4F4F2"/>
                </a:solidFill>
                <a:latin typeface="Segoe UI Black"/>
              </a:rPr>
              <a:t>448</a:t>
            </a:r>
          </a:p>
        </p:txBody>
      </p:sp>
      <p:sp>
        <p:nvSpPr>
          <p:cNvPr id="13" name="!!l2"/>
          <p:cNvSpPr txBox="1"/>
          <p:nvPr/>
        </p:nvSpPr>
        <p:spPr>
          <a:xfrm>
            <a:off x="3611880" y="497840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>
                <a:solidFill>
                  <a:srgbClr val="8B9099"/>
                </a:solidFill>
                <a:latin typeface="Segoe UI"/>
              </a:rPr>
              <a:t>obcí s vlastním profilem</a:t>
            </a:r>
          </a:p>
        </p:txBody>
      </p:sp>
      <p:sp>
        <p:nvSpPr>
          <p:cNvPr id="14" name="!!c3"/>
          <p:cNvSpPr txBox="1"/>
          <p:nvPr/>
        </p:nvSpPr>
        <p:spPr>
          <a:xfrm>
            <a:off x="6446520" y="4343400"/>
            <a:ext cx="27432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000">
                <a:solidFill>
                  <a:srgbClr val="F4F4F2"/>
                </a:solidFill>
                <a:latin typeface="Segoe UI Black"/>
              </a:rPr>
              <a:t>488 614</a:t>
            </a:r>
          </a:p>
        </p:txBody>
      </p:sp>
      <p:sp>
        <p:nvSpPr>
          <p:cNvPr id="15" name="!!l3"/>
          <p:cNvSpPr txBox="1"/>
          <p:nvPr/>
        </p:nvSpPr>
        <p:spPr>
          <a:xfrm>
            <a:off x="6446520" y="497840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>
                <a:solidFill>
                  <a:srgbClr val="8B9099"/>
                </a:solidFill>
                <a:latin typeface="Segoe UI"/>
              </a:rPr>
              <a:t>ověřených hodnot v modelu</a:t>
            </a:r>
          </a:p>
        </p:txBody>
      </p:sp>
      <p:sp>
        <p:nvSpPr>
          <p:cNvPr id="16" name="!!c4"/>
          <p:cNvSpPr txBox="1"/>
          <p:nvPr/>
        </p:nvSpPr>
        <p:spPr>
          <a:xfrm>
            <a:off x="9281160" y="4343400"/>
            <a:ext cx="27432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4000">
                <a:solidFill>
                  <a:srgbClr val="F4F4F2"/>
                </a:solidFill>
                <a:latin typeface="Segoe UI Black"/>
              </a:rPr>
              <a:t>20</a:t>
            </a:r>
          </a:p>
        </p:txBody>
      </p:sp>
      <p:sp>
        <p:nvSpPr>
          <p:cNvPr id="17" name="!!l4"/>
          <p:cNvSpPr txBox="1"/>
          <p:nvPr/>
        </p:nvSpPr>
        <p:spPr>
          <a:xfrm>
            <a:off x="9281160" y="4978400"/>
            <a:ext cx="2743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>
                <a:solidFill>
                  <a:srgbClr val="8B9099"/>
                </a:solidFill>
                <a:latin typeface="Segoe UI"/>
              </a:rPr>
              <a:t>opatření ve scénářích</a:t>
            </a:r>
          </a:p>
        </p:txBody>
      </p:sp>
      <p:sp>
        <p:nvSpPr>
          <p:cNvPr id="18" name="!!krit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300">
                <a:solidFill>
                  <a:srgbClr val="8B9099"/>
                </a:solidFill>
                <a:latin typeface="Segoe UI Semibold"/>
              </a:rPr>
              <a:t>Kritérium: </a:t>
            </a:r>
            <a:r>
              <a:rPr sz="1300">
                <a:solidFill>
                  <a:srgbClr val="8EE06A"/>
                </a:solidFill>
                <a:latin typeface="Segoe UI Semibold"/>
              </a:rPr>
              <a:t>unikátnost — jeden nástroj od dat po rozhodnutí obce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0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kruh"/>
          <p:cNvSpPr/>
          <p:nvPr/>
        </p:nvSpPr>
        <p:spPr>
          <a:xfrm>
            <a:off x="-2926080" y="-3108960"/>
            <a:ext cx="7315200" cy="7315200"/>
          </a:xfrm>
          <a:prstGeom prst="ellipse">
            <a:avLst/>
          </a:prstGeom>
          <a:solidFill>
            <a:srgbClr val="FF9A3C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ruh2"/>
          <p:cNvSpPr/>
          <p:nvPr/>
        </p:nvSpPr>
        <p:spPr>
          <a:xfrm>
            <a:off x="11247120" y="5989320"/>
            <a:ext cx="457200" cy="457200"/>
          </a:xfrm>
          <a:prstGeom prst="ellipse">
            <a:avLst/>
          </a:prstGeom>
          <a:solidFill>
            <a:srgbClr val="5A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!!obr1" descr="scen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20000">
            <a:off x="6446520" y="1051560"/>
            <a:ext cx="5394960" cy="3772476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pic>
        <p:nvPicPr>
          <p:cNvPr id="5" name="!!obr2" descr="pruvod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20000">
            <a:off x="5806440" y="3657600"/>
            <a:ext cx="3566160" cy="2493670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pic>
        <p:nvPicPr>
          <p:cNvPr id="6" name="!!obr3" descr="hospodaren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0" y="914400"/>
            <a:ext cx="4572000" cy="3197013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pic>
        <p:nvPicPr>
          <p:cNvPr id="7" name="!!obr4" descr="plan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00" y="914400"/>
            <a:ext cx="4572000" cy="3197013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sp>
        <p:nvSpPr>
          <p:cNvPr id="8" name="!!stitek"/>
          <p:cNvSpPr txBox="1"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600">
                <a:solidFill>
                  <a:srgbClr val="FF9A3C"/>
                </a:solidFill>
                <a:latin typeface="Segoe UI Semibold"/>
              </a:rPr>
              <a:t>SCÉNÁŘE</a:t>
            </a:r>
          </a:p>
        </p:txBody>
      </p:sp>
      <p:sp>
        <p:nvSpPr>
          <p:cNvPr id="9" name="!!pruh"/>
          <p:cNvSpPr/>
          <p:nvPr/>
        </p:nvSpPr>
        <p:spPr>
          <a:xfrm>
            <a:off x="731520" y="960120"/>
            <a:ext cx="822960" cy="76200"/>
          </a:xfrm>
          <a:prstGeom prst="rect">
            <a:avLst/>
          </a:prstGeom>
          <a:solidFill>
            <a:srgbClr val="FF9A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velky"/>
          <p:cNvSpPr txBox="1"/>
          <p:nvPr/>
        </p:nvSpPr>
        <p:spPr>
          <a:xfrm>
            <a:off x="731520" y="1188720"/>
            <a:ext cx="5669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200">
                <a:solidFill>
                  <a:srgbClr val="F4F4F2"/>
                </a:solidFill>
                <a:latin typeface="Segoe UI Black"/>
              </a:rPr>
              <a:t>Co když…?</a:t>
            </a:r>
          </a:p>
        </p:txBody>
      </p:sp>
      <p:sp>
        <p:nvSpPr>
          <p:cNvPr id="11" name="!!sub"/>
          <p:cNvSpPr txBox="1"/>
          <p:nvPr/>
        </p:nvSpPr>
        <p:spPr>
          <a:xfrm>
            <a:off x="777240" y="2697480"/>
            <a:ext cx="52120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>
                <a:solidFill>
                  <a:srgbClr val="8B9099"/>
                </a:solidFill>
                <a:latin typeface="Segoe UI"/>
              </a:rPr>
              <a:t>Vyberete obec. Model najde její problémy, navrhne opatření i jejich velikost a spočítá dopad do roku 2040.</a:t>
            </a:r>
          </a:p>
        </p:txBody>
      </p:sp>
      <p:sp>
        <p:nvSpPr>
          <p:cNvPr id="12" name="!!b1"/>
          <p:cNvSpPr txBox="1"/>
          <p:nvPr/>
        </p:nvSpPr>
        <p:spPr>
          <a:xfrm>
            <a:off x="777240" y="416052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900">
                <a:solidFill>
                  <a:srgbClr val="FF9A3C"/>
                </a:solidFill>
                <a:latin typeface="Segoe UI Semibold"/>
              </a:rPr>
              <a:t>● </a:t>
            </a:r>
            <a:r>
              <a:rPr sz="1900">
                <a:solidFill>
                  <a:srgbClr val="F4F4F2"/>
                </a:solidFill>
                <a:latin typeface="Segoe UI Semibold"/>
              </a:rPr>
              <a:t>Navrhne za vás: co a kolik přidat</a:t>
            </a:r>
          </a:p>
        </p:txBody>
      </p:sp>
      <p:sp>
        <p:nvSpPr>
          <p:cNvPr id="13" name="!!b2"/>
          <p:cNvSpPr txBox="1"/>
          <p:nvPr/>
        </p:nvSpPr>
        <p:spPr>
          <a:xfrm>
            <a:off x="777240" y="466344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900">
                <a:solidFill>
                  <a:srgbClr val="FF9A3C"/>
                </a:solidFill>
                <a:latin typeface="Segoe UI Semibold"/>
              </a:rPr>
              <a:t>● </a:t>
            </a:r>
            <a:r>
              <a:rPr sz="1900">
                <a:solidFill>
                  <a:srgbClr val="F4F4F2"/>
                </a:solidFill>
                <a:latin typeface="Segoe UI Semibold"/>
              </a:rPr>
              <a:t>Dopad na školy, lékaře, péči i daně</a:t>
            </a:r>
          </a:p>
        </p:txBody>
      </p:sp>
      <p:sp>
        <p:nvSpPr>
          <p:cNvPr id="14" name="!!b3"/>
          <p:cNvSpPr txBox="1"/>
          <p:nvPr/>
        </p:nvSpPr>
        <p:spPr>
          <a:xfrm>
            <a:off x="777240" y="516636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900">
                <a:solidFill>
                  <a:srgbClr val="FF9A3C"/>
                </a:solidFill>
                <a:latin typeface="Segoe UI Semibold"/>
              </a:rPr>
              <a:t>● </a:t>
            </a:r>
            <a:r>
              <a:rPr sz="1900">
                <a:solidFill>
                  <a:srgbClr val="F4F4F2"/>
                </a:solidFill>
                <a:latin typeface="Segoe UI Semibold"/>
              </a:rPr>
              <a:t>Kde v území opatření chybí nejvíc</a:t>
            </a:r>
          </a:p>
        </p:txBody>
      </p:sp>
      <p:sp>
        <p:nvSpPr>
          <p:cNvPr id="15" name="!!krit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300">
                <a:solidFill>
                  <a:srgbClr val="8B9099"/>
                </a:solidFill>
                <a:latin typeface="Segoe UI Semibold"/>
              </a:rPr>
              <a:t>Kritérium: </a:t>
            </a:r>
            <a:r>
              <a:rPr sz="1300">
                <a:solidFill>
                  <a:srgbClr val="FF9A3C"/>
                </a:solidFill>
                <a:latin typeface="Segoe UI Semibold"/>
              </a:rPr>
              <a:t>unikátnost · využití pro kraj — podklad k rozhodnutí, ne jen graf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0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kruh"/>
          <p:cNvSpPr/>
          <p:nvPr/>
        </p:nvSpPr>
        <p:spPr>
          <a:xfrm>
            <a:off x="7863840" y="-2377440"/>
            <a:ext cx="5852160" cy="5852160"/>
          </a:xfrm>
          <a:prstGeom prst="ellipse">
            <a:avLst/>
          </a:prstGeom>
          <a:solidFill>
            <a:srgbClr val="A78BFA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ruh2"/>
          <p:cNvSpPr/>
          <p:nvPr/>
        </p:nvSpPr>
        <p:spPr>
          <a:xfrm>
            <a:off x="5760720" y="5943600"/>
            <a:ext cx="457200" cy="4572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!!obr1" descr="vyh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510000">
            <a:off x="6309360" y="914400"/>
            <a:ext cx="5486400" cy="3836416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pic>
        <p:nvPicPr>
          <p:cNvPr id="5" name="!!obr2" descr="pruvod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0" y="914400"/>
            <a:ext cx="4572000" cy="3197013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pic>
        <p:nvPicPr>
          <p:cNvPr id="6" name="!!obr3" descr="hospodaren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0" y="914400"/>
            <a:ext cx="4572000" cy="3197013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pic>
        <p:nvPicPr>
          <p:cNvPr id="7" name="!!obr4" descr="plan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00" y="914400"/>
            <a:ext cx="4572000" cy="3197013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sp>
        <p:nvSpPr>
          <p:cNvPr id="8" name="!!stitek"/>
          <p:cNvSpPr txBox="1"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600">
                <a:solidFill>
                  <a:srgbClr val="A78BFA"/>
                </a:solidFill>
                <a:latin typeface="Segoe UI Semibold"/>
              </a:rPr>
              <a:t>VÝHLED A DATA</a:t>
            </a:r>
          </a:p>
        </p:txBody>
      </p:sp>
      <p:sp>
        <p:nvSpPr>
          <p:cNvPr id="9" name="!!pruh"/>
          <p:cNvSpPr/>
          <p:nvPr/>
        </p:nvSpPr>
        <p:spPr>
          <a:xfrm>
            <a:off x="731520" y="960120"/>
            <a:ext cx="822960" cy="762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velky"/>
          <p:cNvSpPr txBox="1"/>
          <p:nvPr/>
        </p:nvSpPr>
        <p:spPr>
          <a:xfrm>
            <a:off x="731520" y="1188720"/>
            <a:ext cx="5486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600">
                <a:solidFill>
                  <a:srgbClr val="F4F4F2"/>
                </a:solidFill>
                <a:latin typeface="Segoe UI Black"/>
              </a:rPr>
              <a:t>Výhled </a:t>
            </a:r>
            <a:r>
              <a:rPr sz="6600">
                <a:solidFill>
                  <a:srgbClr val="A78BFA"/>
                </a:solidFill>
                <a:latin typeface="Segoe UI Black"/>
              </a:rPr>
              <a:t>2040.</a:t>
            </a:r>
          </a:p>
        </p:txBody>
      </p:sp>
      <p:sp>
        <p:nvSpPr>
          <p:cNvPr id="11" name="!!sub"/>
          <p:cNvSpPr txBox="1"/>
          <p:nvPr/>
        </p:nvSpPr>
        <p:spPr>
          <a:xfrm>
            <a:off x="777240" y="2606040"/>
            <a:ext cx="5212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>
                <a:solidFill>
                  <a:srgbClr val="8B9099"/>
                </a:solidFill>
                <a:latin typeface="Segoe UI"/>
              </a:rPr>
              <a:t>Kolik lidí bude v kraji i v každé obci, kolik dětí a seniorů — z dat ČSÚ, s pásmem nejistoty.</a:t>
            </a:r>
          </a:p>
        </p:txBody>
      </p:sp>
      <p:sp>
        <p:nvSpPr>
          <p:cNvPr id="12" name="!!c1"/>
          <p:cNvSpPr txBox="1"/>
          <p:nvPr/>
        </p:nvSpPr>
        <p:spPr>
          <a:xfrm>
            <a:off x="777240" y="3749039"/>
            <a:ext cx="2651760" cy="539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3400">
                <a:solidFill>
                  <a:srgbClr val="A78BFA"/>
                </a:solidFill>
                <a:latin typeface="Segoe UI Black"/>
              </a:rPr>
              <a:t>542 710</a:t>
            </a:r>
          </a:p>
        </p:txBody>
      </p:sp>
      <p:sp>
        <p:nvSpPr>
          <p:cNvPr id="13" name="!!l1"/>
          <p:cNvSpPr txBox="1"/>
          <p:nvPr/>
        </p:nvSpPr>
        <p:spPr>
          <a:xfrm>
            <a:off x="777240" y="4288789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>
                <a:solidFill>
                  <a:srgbClr val="8B9099"/>
                </a:solidFill>
                <a:latin typeface="Segoe UI"/>
              </a:rPr>
              <a:t>obyvatel kraje v roce 2040</a:t>
            </a: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8B9099"/>
                </a:solidFill>
                <a:latin typeface="Segoe UI"/>
              </a:rPr>
              <a:t>(dnes 554 668)</a:t>
            </a:r>
          </a:p>
        </p:txBody>
      </p:sp>
      <p:sp>
        <p:nvSpPr>
          <p:cNvPr id="14" name="!!c2"/>
          <p:cNvSpPr txBox="1"/>
          <p:nvPr/>
        </p:nvSpPr>
        <p:spPr>
          <a:xfrm>
            <a:off x="3520440" y="3749039"/>
            <a:ext cx="2651760" cy="539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3400">
                <a:solidFill>
                  <a:srgbClr val="F4F4F2"/>
                </a:solidFill>
                <a:latin typeface="Segoe UI Black"/>
              </a:rPr>
              <a:t>1,4 %</a:t>
            </a:r>
          </a:p>
        </p:txBody>
      </p:sp>
      <p:sp>
        <p:nvSpPr>
          <p:cNvPr id="15" name="!!l2"/>
          <p:cNvSpPr txBox="1"/>
          <p:nvPr/>
        </p:nvSpPr>
        <p:spPr>
          <a:xfrm>
            <a:off x="3520440" y="4288789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>
                <a:solidFill>
                  <a:srgbClr val="8B9099"/>
                </a:solidFill>
                <a:latin typeface="Segoe UI"/>
              </a:rPr>
              <a:t>průměrná chyba</a:t>
            </a: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8B9099"/>
                </a:solidFill>
                <a:latin typeface="Segoe UI"/>
              </a:rPr>
              <a:t>zpětného testu</a:t>
            </a:r>
          </a:p>
        </p:txBody>
      </p:sp>
      <p:sp>
        <p:nvSpPr>
          <p:cNvPr id="16" name="!!c3"/>
          <p:cNvSpPr txBox="1"/>
          <p:nvPr/>
        </p:nvSpPr>
        <p:spPr>
          <a:xfrm>
            <a:off x="777240" y="5074920"/>
            <a:ext cx="2651760" cy="539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3400">
                <a:solidFill>
                  <a:srgbClr val="F4F4F2"/>
                </a:solidFill>
                <a:latin typeface="Segoe UI Black"/>
              </a:rPr>
              <a:t>57</a:t>
            </a:r>
          </a:p>
        </p:txBody>
      </p:sp>
      <p:sp>
        <p:nvSpPr>
          <p:cNvPr id="17" name="!!l3"/>
          <p:cNvSpPr txBox="1"/>
          <p:nvPr/>
        </p:nvSpPr>
        <p:spPr>
          <a:xfrm>
            <a:off x="777240" y="561467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>
                <a:solidFill>
                  <a:srgbClr val="8B9099"/>
                </a:solidFill>
                <a:latin typeface="Segoe UI"/>
              </a:rPr>
              <a:t>sad čte model celé,</a:t>
            </a: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8B9099"/>
                </a:solidFill>
                <a:latin typeface="Segoe UI"/>
              </a:rPr>
              <a:t>hodnotu po hodnotě</a:t>
            </a:r>
          </a:p>
        </p:txBody>
      </p:sp>
      <p:sp>
        <p:nvSpPr>
          <p:cNvPr id="18" name="!!c4"/>
          <p:cNvSpPr txBox="1"/>
          <p:nvPr/>
        </p:nvSpPr>
        <p:spPr>
          <a:xfrm>
            <a:off x="3520440" y="5074920"/>
            <a:ext cx="2651760" cy="539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3400">
                <a:solidFill>
                  <a:srgbClr val="F4F4F2"/>
                </a:solidFill>
                <a:latin typeface="Segoe UI Black"/>
              </a:rPr>
              <a:t>19 344</a:t>
            </a:r>
          </a:p>
        </p:txBody>
      </p:sp>
      <p:sp>
        <p:nvSpPr>
          <p:cNvPr id="19" name="!!l4"/>
          <p:cNvSpPr txBox="1"/>
          <p:nvPr/>
        </p:nvSpPr>
        <p:spPr>
          <a:xfrm>
            <a:off x="3520440" y="5614670"/>
            <a:ext cx="26517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>
                <a:solidFill>
                  <a:srgbClr val="8B9099"/>
                </a:solidFill>
                <a:latin typeface="Segoe UI"/>
              </a:rPr>
              <a:t>sad v katalogu,</a:t>
            </a:r>
          </a:p>
          <a:p>
            <a:pPr algn="l">
              <a:lnSpc>
                <a:spcPct val="105000"/>
              </a:lnSpc>
            </a:pPr>
            <a:r>
              <a:rPr sz="1500">
                <a:solidFill>
                  <a:srgbClr val="8B9099"/>
                </a:solidFill>
                <a:latin typeface="Segoe UI"/>
              </a:rPr>
              <a:t>každá ověřená</a:t>
            </a:r>
          </a:p>
        </p:txBody>
      </p:sp>
      <p:sp>
        <p:nvSpPr>
          <p:cNvPr id="20" name="!!krit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300">
                <a:solidFill>
                  <a:srgbClr val="8B9099"/>
                </a:solidFill>
                <a:latin typeface="Segoe UI Semibold"/>
              </a:rPr>
              <a:t>Kritérium: </a:t>
            </a:r>
            <a:r>
              <a:rPr sz="1300">
                <a:solidFill>
                  <a:srgbClr val="A78BFA"/>
                </a:solidFill>
                <a:latin typeface="Segoe UI Semibold"/>
              </a:rPr>
              <a:t>otevřená data — ČSÚ, Data KHK, NKOD, MF ČR; u každého čísla odkaz na zdroj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0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kruh"/>
          <p:cNvSpPr/>
          <p:nvPr/>
        </p:nvSpPr>
        <p:spPr>
          <a:xfrm>
            <a:off x="6766560" y="2377440"/>
            <a:ext cx="6400800" cy="6400800"/>
          </a:xfrm>
          <a:prstGeom prst="ellipse">
            <a:avLst/>
          </a:prstGeom>
          <a:solidFill>
            <a:srgbClr val="5AA9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ruh2"/>
          <p:cNvSpPr/>
          <p:nvPr/>
        </p:nvSpPr>
        <p:spPr>
          <a:xfrm>
            <a:off x="5760720" y="502920"/>
            <a:ext cx="457200" cy="457200"/>
          </a:xfrm>
          <a:prstGeom prst="ellipse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!!obr1" descr="podne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0000">
            <a:off x="6400800" y="914400"/>
            <a:ext cx="5394960" cy="3772476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pic>
        <p:nvPicPr>
          <p:cNvPr id="5" name="!!obr2" descr="hospodaren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343400"/>
            <a:ext cx="1691640" cy="1182895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pic>
        <p:nvPicPr>
          <p:cNvPr id="6" name="!!obr3" descr="plan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6040" y="4343400"/>
            <a:ext cx="1691640" cy="1182895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pic>
        <p:nvPicPr>
          <p:cNvPr id="7" name="!!obr4" descr="dotac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4343400"/>
            <a:ext cx="1691640" cy="1182895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sp>
        <p:nvSpPr>
          <p:cNvPr id="8" name="!!stitek"/>
          <p:cNvSpPr txBox="1"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600">
                <a:solidFill>
                  <a:srgbClr val="5AA9FF"/>
                </a:solidFill>
                <a:latin typeface="Segoe UI Semibold"/>
              </a:rPr>
              <a:t>VEŘEJNOST</a:t>
            </a:r>
          </a:p>
        </p:txBody>
      </p:sp>
      <p:sp>
        <p:nvSpPr>
          <p:cNvPr id="9" name="!!pruh"/>
          <p:cNvSpPr/>
          <p:nvPr/>
        </p:nvSpPr>
        <p:spPr>
          <a:xfrm>
            <a:off x="731520" y="960120"/>
            <a:ext cx="822960" cy="76200"/>
          </a:xfrm>
          <a:prstGeom prst="rect">
            <a:avLst/>
          </a:prstGeom>
          <a:solidFill>
            <a:srgbClr val="5AA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velky"/>
          <p:cNvSpPr txBox="1"/>
          <p:nvPr/>
        </p:nvSpPr>
        <p:spPr>
          <a:xfrm>
            <a:off x="731520" y="1188720"/>
            <a:ext cx="54864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6000">
                <a:solidFill>
                  <a:srgbClr val="F4F4F2"/>
                </a:solidFill>
                <a:latin typeface="Segoe UI Black"/>
              </a:rPr>
              <a:t>Hlas </a:t>
            </a:r>
            <a:r>
              <a:rPr sz="6000">
                <a:solidFill>
                  <a:srgbClr val="5AA9FF"/>
                </a:solidFill>
                <a:latin typeface="Segoe UI Black"/>
              </a:rPr>
              <a:t>obyvatel.</a:t>
            </a:r>
          </a:p>
        </p:txBody>
      </p:sp>
      <p:sp>
        <p:nvSpPr>
          <p:cNvPr id="11" name="!!sub"/>
          <p:cNvSpPr txBox="1"/>
          <p:nvPr/>
        </p:nvSpPr>
        <p:spPr>
          <a:xfrm>
            <a:off x="777240" y="2514600"/>
            <a:ext cx="5303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>
                <a:solidFill>
                  <a:srgbClr val="8B9099"/>
                </a:solidFill>
                <a:latin typeface="Segoe UI"/>
              </a:rPr>
              <a:t>Podnět se spojí s podobnými. Od 5 hlasů vznikne formální podnět kraji i s daty o území.</a:t>
            </a:r>
          </a:p>
        </p:txBody>
      </p:sp>
      <p:sp>
        <p:nvSpPr>
          <p:cNvPr id="12" name="!!cap1"/>
          <p:cNvSpPr txBox="1"/>
          <p:nvPr/>
        </p:nvSpPr>
        <p:spPr>
          <a:xfrm>
            <a:off x="777240" y="5577840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">
                <a:solidFill>
                  <a:srgbClr val="F4F4F2"/>
                </a:solidFill>
                <a:latin typeface="Segoe UI Semibold"/>
              </a:rPr>
              <a:t>Hospodaření</a:t>
            </a:r>
          </a:p>
          <a:p>
            <a:pPr algn="l">
              <a:lnSpc>
                <a:spcPct val="90000"/>
              </a:lnSpc>
            </a:pPr>
            <a:r>
              <a:rPr sz="1200">
                <a:solidFill>
                  <a:srgbClr val="8B9099"/>
                </a:solidFill>
                <a:latin typeface="Segoe UI Semibold"/>
              </a:rPr>
              <a:t>vydělává obec?</a:t>
            </a:r>
          </a:p>
        </p:txBody>
      </p:sp>
      <p:sp>
        <p:nvSpPr>
          <p:cNvPr id="13" name="!!cap2"/>
          <p:cNvSpPr txBox="1"/>
          <p:nvPr/>
        </p:nvSpPr>
        <p:spPr>
          <a:xfrm>
            <a:off x="2606040" y="5577840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">
                <a:solidFill>
                  <a:srgbClr val="F4F4F2"/>
                </a:solidFill>
                <a:latin typeface="Segoe UI Semibold"/>
              </a:rPr>
              <a:t>Plány</a:t>
            </a:r>
          </a:p>
          <a:p>
            <a:pPr algn="l">
              <a:lnSpc>
                <a:spcPct val="90000"/>
              </a:lnSpc>
            </a:pPr>
            <a:r>
              <a:rPr sz="1200">
                <a:solidFill>
                  <a:srgbClr val="8B9099"/>
                </a:solidFill>
                <a:latin typeface="Segoe UI Semibold"/>
              </a:rPr>
              <a:t>co platí a do kdy</a:t>
            </a:r>
          </a:p>
        </p:txBody>
      </p:sp>
      <p:sp>
        <p:nvSpPr>
          <p:cNvPr id="14" name="!!cap3"/>
          <p:cNvSpPr txBox="1"/>
          <p:nvPr/>
        </p:nvSpPr>
        <p:spPr>
          <a:xfrm>
            <a:off x="4434840" y="5577840"/>
            <a:ext cx="1737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">
                <a:solidFill>
                  <a:srgbClr val="F4F4F2"/>
                </a:solidFill>
                <a:latin typeface="Segoe UI Semibold"/>
              </a:rPr>
              <a:t>Dotace</a:t>
            </a:r>
          </a:p>
          <a:p>
            <a:pPr algn="l">
              <a:lnSpc>
                <a:spcPct val="90000"/>
              </a:lnSpc>
            </a:pPr>
            <a:r>
              <a:rPr sz="1200">
                <a:solidFill>
                  <a:srgbClr val="8B9099"/>
                </a:solidFill>
                <a:latin typeface="Segoe UI Semibold"/>
              </a:rPr>
              <a:t>kolik a odkud</a:t>
            </a:r>
          </a:p>
        </p:txBody>
      </p:sp>
      <p:sp>
        <p:nvSpPr>
          <p:cNvPr id="15" name="!!krit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300">
                <a:solidFill>
                  <a:srgbClr val="8B9099"/>
                </a:solidFill>
                <a:latin typeface="Segoe UI Semibold"/>
              </a:rPr>
              <a:t>Kritérium: </a:t>
            </a:r>
            <a:r>
              <a:rPr sz="1300">
                <a:solidFill>
                  <a:srgbClr val="5AA9FF"/>
                </a:solidFill>
                <a:latin typeface="Segoe UI Semibold"/>
              </a:rPr>
              <a:t>využití pro veřejnost — podnět, hlas a cesta ke kraji bez úředního formuláře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0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kruh"/>
          <p:cNvSpPr/>
          <p:nvPr/>
        </p:nvSpPr>
        <p:spPr>
          <a:xfrm>
            <a:off x="8229600" y="-2560320"/>
            <a:ext cx="6217920" cy="6217920"/>
          </a:xfrm>
          <a:prstGeom prst="ellipse">
            <a:avLst/>
          </a:prstGeom>
          <a:solidFill>
            <a:srgbClr val="8EE06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kruh2"/>
          <p:cNvSpPr/>
          <p:nvPr/>
        </p:nvSpPr>
        <p:spPr>
          <a:xfrm>
            <a:off x="11247120" y="5943600"/>
            <a:ext cx="457200" cy="4572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!!obr1" descr="scen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0" y="914400"/>
            <a:ext cx="4572000" cy="3197013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pic>
        <p:nvPicPr>
          <p:cNvPr id="5" name="!!obr2" descr="pruvod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0" y="914400"/>
            <a:ext cx="4572000" cy="3197013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pic>
        <p:nvPicPr>
          <p:cNvPr id="6" name="!!obr3" descr="hospodaren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0" y="914400"/>
            <a:ext cx="4572000" cy="3197013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pic>
        <p:nvPicPr>
          <p:cNvPr id="7" name="!!obr4" descr="plan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30400" y="914400"/>
            <a:ext cx="4572000" cy="3197013"/>
          </a:xfrm>
          <a:prstGeom prst="rect">
            <a:avLst/>
          </a:prstGeom>
          <a:ln w="12700">
            <a:solidFill>
              <a:srgbClr val="2A2E35"/>
            </a:solidFill>
          </a:ln>
        </p:spPr>
      </p:pic>
      <p:sp>
        <p:nvSpPr>
          <p:cNvPr id="8" name="!!stitek"/>
          <p:cNvSpPr txBox="1"/>
          <p:nvPr/>
        </p:nvSpPr>
        <p:spPr>
          <a:xfrm>
            <a:off x="731520" y="5029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600">
                <a:solidFill>
                  <a:srgbClr val="34D399"/>
                </a:solidFill>
                <a:latin typeface="Segoe UI Semibold"/>
              </a:rPr>
              <a:t>OTEVŘENOST · TÝM</a:t>
            </a:r>
          </a:p>
        </p:txBody>
      </p:sp>
      <p:sp>
        <p:nvSpPr>
          <p:cNvPr id="9" name="!!pruh"/>
          <p:cNvSpPr/>
          <p:nvPr/>
        </p:nvSpPr>
        <p:spPr>
          <a:xfrm>
            <a:off x="731520" y="960120"/>
            <a:ext cx="822960" cy="762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!!velky"/>
          <p:cNvSpPr txBox="1"/>
          <p:nvPr/>
        </p:nvSpPr>
        <p:spPr>
          <a:xfrm>
            <a:off x="731520" y="1097280"/>
            <a:ext cx="10972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>
                <a:solidFill>
                  <a:srgbClr val="F4F4F2"/>
                </a:solidFill>
                <a:latin typeface="Segoe UI Black"/>
              </a:rPr>
              <a:t>Popojedem</a:t>
            </a:r>
            <a:r>
              <a:rPr sz="12000">
                <a:solidFill>
                  <a:srgbClr val="8EE06A"/>
                </a:solidFill>
                <a:latin typeface="Segoe UI Black"/>
              </a:rPr>
              <a:t>.</a:t>
            </a:r>
          </a:p>
        </p:txBody>
      </p:sp>
      <p:sp>
        <p:nvSpPr>
          <p:cNvPr id="11" name="!!sub"/>
          <p:cNvSpPr txBox="1"/>
          <p:nvPr/>
        </p:nvSpPr>
        <p:spPr>
          <a:xfrm>
            <a:off x="777240" y="29718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>
                <a:solidFill>
                  <a:srgbClr val="8B9099"/>
                </a:solidFill>
                <a:latin typeface="Segoe UI"/>
              </a:rPr>
              <a:t>Veřejné API /api/v1 · CSV · JSON · bez registrace — připravené pro Datový portál Data KHK</a:t>
            </a:r>
          </a:p>
        </p:txBody>
      </p:sp>
      <p:sp>
        <p:nvSpPr>
          <p:cNvPr id="12" name="!!clen1"/>
          <p:cNvSpPr txBox="1"/>
          <p:nvPr/>
        </p:nvSpPr>
        <p:spPr>
          <a:xfrm>
            <a:off x="777240" y="402336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>
                <a:solidFill>
                  <a:srgbClr val="F4F4F2"/>
                </a:solidFill>
                <a:latin typeface="Segoe UI Semibold"/>
              </a:rPr>
              <a:t>Ondřej Hušek</a:t>
            </a:r>
          </a:p>
          <a:p>
            <a:pPr algn="l">
              <a:lnSpc>
                <a:spcPct val="105000"/>
              </a:lnSpc>
            </a:pPr>
            <a:r>
              <a:rPr sz="1800">
                <a:solidFill>
                  <a:srgbClr val="8B9099"/>
                </a:solidFill>
                <a:latin typeface="Segoe UI Semibold"/>
              </a:rPr>
              <a:t>vývoj, architektura, AI</a:t>
            </a:r>
          </a:p>
        </p:txBody>
      </p:sp>
      <p:sp>
        <p:nvSpPr>
          <p:cNvPr id="13" name="!!clen2"/>
          <p:cNvSpPr txBox="1"/>
          <p:nvPr/>
        </p:nvSpPr>
        <p:spPr>
          <a:xfrm>
            <a:off x="3611880" y="402336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>
                <a:solidFill>
                  <a:srgbClr val="F4F4F2"/>
                </a:solidFill>
                <a:latin typeface="Segoe UI Semibold"/>
              </a:rPr>
              <a:t>Matěj Jirásek</a:t>
            </a:r>
          </a:p>
          <a:p>
            <a:pPr algn="l">
              <a:lnSpc>
                <a:spcPct val="105000"/>
              </a:lnSpc>
            </a:pPr>
            <a:r>
              <a:rPr sz="1800">
                <a:solidFill>
                  <a:srgbClr val="8B9099"/>
                </a:solidFill>
                <a:latin typeface="Segoe UI Semibold"/>
              </a:rPr>
              <a:t>UX/UI design</a:t>
            </a:r>
          </a:p>
        </p:txBody>
      </p:sp>
      <p:sp>
        <p:nvSpPr>
          <p:cNvPr id="14" name="!!clen3"/>
          <p:cNvSpPr txBox="1"/>
          <p:nvPr/>
        </p:nvSpPr>
        <p:spPr>
          <a:xfrm>
            <a:off x="6446520" y="402336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>
                <a:solidFill>
                  <a:srgbClr val="F4F4F2"/>
                </a:solidFill>
                <a:latin typeface="Segoe UI Semibold"/>
              </a:rPr>
              <a:t>Josef Efler</a:t>
            </a:r>
          </a:p>
          <a:p>
            <a:pPr algn="l">
              <a:lnSpc>
                <a:spcPct val="105000"/>
              </a:lnSpc>
            </a:pPr>
            <a:r>
              <a:rPr sz="1800">
                <a:solidFill>
                  <a:srgbClr val="8B9099"/>
                </a:solidFill>
                <a:latin typeface="Segoe UI Semibold"/>
              </a:rPr>
              <a:t>brand, marketing, legal</a:t>
            </a:r>
          </a:p>
        </p:txBody>
      </p:sp>
      <p:sp>
        <p:nvSpPr>
          <p:cNvPr id="15" name="!!clen4"/>
          <p:cNvSpPr txBox="1"/>
          <p:nvPr/>
        </p:nvSpPr>
        <p:spPr>
          <a:xfrm>
            <a:off x="9281160" y="402336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>
                <a:solidFill>
                  <a:srgbClr val="F4F4F2"/>
                </a:solidFill>
                <a:latin typeface="Segoe UI Semibold"/>
              </a:rPr>
              <a:t>Damián Roháček</a:t>
            </a:r>
          </a:p>
          <a:p>
            <a:pPr algn="l">
              <a:lnSpc>
                <a:spcPct val="105000"/>
              </a:lnSpc>
            </a:pPr>
            <a:r>
              <a:rPr sz="1800">
                <a:solidFill>
                  <a:srgbClr val="8B9099"/>
                </a:solidFill>
                <a:latin typeface="Segoe UI Semibold"/>
              </a:rPr>
              <a:t>backend, testování</a:t>
            </a:r>
          </a:p>
        </p:txBody>
      </p:sp>
      <p:sp>
        <p:nvSpPr>
          <p:cNvPr id="16" name="!!url"/>
          <p:cNvSpPr txBox="1"/>
          <p:nvPr/>
        </p:nvSpPr>
        <p:spPr>
          <a:xfrm>
            <a:off x="777240" y="52578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2600">
                <a:solidFill>
                  <a:srgbClr val="8EE06A"/>
                </a:solidFill>
                <a:latin typeface="Segoe UI Semibold"/>
              </a:rPr>
              <a:t>hack-a-ton-hushkys.web.app</a:t>
            </a:r>
          </a:p>
        </p:txBody>
      </p:sp>
      <p:sp>
        <p:nvSpPr>
          <p:cNvPr id="17" name="!!krit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300">
                <a:solidFill>
                  <a:srgbClr val="8B9099"/>
                </a:solidFill>
                <a:latin typeface="Segoe UI Semibold"/>
              </a:rPr>
              <a:t>Kritérium: </a:t>
            </a:r>
            <a:r>
              <a:rPr sz="1300">
                <a:solidFill>
                  <a:srgbClr val="34D399"/>
                </a:solidFill>
                <a:latin typeface="Segoe UI Semibold"/>
              </a:rPr>
              <a:t>využití pro kraj — vlastní API pro Data KHK, nasaditelné i pro další kraje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 xmlns:p159="http://schemas.microsoft.com/office/powerpoint/2015/09/main">
    <mc:Choice Requires="p159">
      <p:transition spd="slow" p14:dur="10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