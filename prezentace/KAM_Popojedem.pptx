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kruh"/>
          <p:cNvSpPr/>
          <p:nvPr/>
        </p:nvSpPr>
        <p:spPr>
          <a:xfrm>
            <a:off x="6583680" y="-1463040"/>
            <a:ext cx="7863840" cy="7863840"/>
          </a:xfrm>
          <a:prstGeom prst="ellipse">
            <a:avLst/>
          </a:prstGeom>
          <a:solidFill>
            <a:srgbClr val="8EE06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kruh2"/>
          <p:cNvSpPr/>
          <p:nvPr/>
        </p:nvSpPr>
        <p:spPr>
          <a:xfrm>
            <a:off x="914400" y="5669280"/>
            <a:ext cx="822960" cy="822960"/>
          </a:xfrm>
          <a:prstGeom prst="ellipse">
            <a:avLst/>
          </a:prstGeom>
          <a:solidFill>
            <a:srgbClr val="FF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graf"/>
          <p:cNvSpPr/>
          <p:nvPr/>
        </p:nvSpPr>
        <p:spPr>
          <a:xfrm>
            <a:off x="14630400" y="3840480"/>
            <a:ext cx="12161520" cy="3017520"/>
          </a:xfrm>
          <a:custGeom>
            <a:avLst/>
            <a:gdLst/>
            <a:ahLst/>
            <a:cxnLst/>
            <a:rect l="l" t="t" r="r" b="b"/>
            <a:pathLst>
              <a:path w="12161520" h="3017520">
                <a:moveTo>
                  <a:pt x="0" y="3017520"/>
                </a:moveTo>
                <a:lnTo>
                  <a:pt x="0" y="1723457"/>
                </a:lnTo>
                <a:lnTo>
                  <a:pt x="579120" y="1725115"/>
                </a:lnTo>
                <a:lnTo>
                  <a:pt x="1158240" y="1682093"/>
                </a:lnTo>
                <a:lnTo>
                  <a:pt x="1737360" y="1680352"/>
                </a:lnTo>
                <a:lnTo>
                  <a:pt x="2316480" y="1665182"/>
                </a:lnTo>
                <a:lnTo>
                  <a:pt x="2895600" y="1427441"/>
                </a:lnTo>
                <a:lnTo>
                  <a:pt x="3474720" y="1427939"/>
                </a:lnTo>
                <a:lnTo>
                  <a:pt x="4053840" y="1547058"/>
                </a:lnTo>
                <a:lnTo>
                  <a:pt x="4632960" y="1546395"/>
                </a:lnTo>
                <a:lnTo>
                  <a:pt x="5212080" y="1388564"/>
                </a:lnTo>
                <a:lnTo>
                  <a:pt x="5791200" y="1416748"/>
                </a:lnTo>
                <a:lnTo>
                  <a:pt x="6370320" y="562024"/>
                </a:lnTo>
                <a:lnTo>
                  <a:pt x="6949440" y="763540"/>
                </a:lnTo>
                <a:lnTo>
                  <a:pt x="7528560" y="725492"/>
                </a:lnTo>
                <a:lnTo>
                  <a:pt x="8107680" y="719938"/>
                </a:lnTo>
                <a:lnTo>
                  <a:pt x="8686800" y="706841"/>
                </a:lnTo>
                <a:lnTo>
                  <a:pt x="9265920" y="314585"/>
                </a:lnTo>
                <a:lnTo>
                  <a:pt x="9845040" y="666305"/>
                </a:lnTo>
                <a:lnTo>
                  <a:pt x="10424160" y="0"/>
                </a:lnTo>
                <a:lnTo>
                  <a:pt x="11003280" y="430222"/>
                </a:lnTo>
                <a:lnTo>
                  <a:pt x="11582400" y="1015705"/>
                </a:lnTo>
                <a:lnTo>
                  <a:pt x="12161520" y="2747119"/>
                </a:lnTo>
                <a:lnTo>
                  <a:pt x="12161520" y="3017520"/>
                </a:lnTo>
                <a:close/>
              </a:path>
            </a:pathLst>
          </a:custGeom>
          <a:solidFill>
            <a:srgbClr val="A78BFA">
              <a:alpha val="55000"/>
            </a:srgbClr>
          </a:solidFill>
          <a:ln w="381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!!obr1" descr="ob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0" y="914400"/>
            <a:ext cx="5486400" cy="3836416"/>
          </a:xfrm>
          <a:prstGeom prst="rect">
            <a:avLst/>
          </a:prstGeom>
          <a:ln w="12700">
            <a:solidFill>
              <a:srgbClr val="2A2E35"/>
            </a:solidFill>
          </a:ln>
        </p:spPr>
      </p:pic>
      <p:pic>
        <p:nvPicPr>
          <p:cNvPr id="6" name="!!obr2" descr="scen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0" y="914400"/>
            <a:ext cx="5486400" cy="3836416"/>
          </a:xfrm>
          <a:prstGeom prst="rect">
            <a:avLst/>
          </a:prstGeom>
          <a:ln w="12700">
            <a:solidFill>
              <a:srgbClr val="2A2E35"/>
            </a:solidFill>
          </a:ln>
        </p:spPr>
      </p:pic>
      <p:pic>
        <p:nvPicPr>
          <p:cNvPr id="7" name="!!obr3" descr="sta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0400" y="914400"/>
            <a:ext cx="5486400" cy="3836416"/>
          </a:xfrm>
          <a:prstGeom prst="rect">
            <a:avLst/>
          </a:prstGeom>
          <a:ln w="12700">
            <a:solidFill>
              <a:srgbClr val="2A2E35"/>
            </a:solidFill>
          </a:ln>
        </p:spPr>
      </p:pic>
      <p:sp>
        <p:nvSpPr>
          <p:cNvPr id="8" name="!!stitek"/>
          <p:cNvSpPr txBox="1"/>
          <p:nvPr/>
        </p:nvSpPr>
        <p:spPr>
          <a:xfrm>
            <a:off x="14630400" y="5486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</a:p>
        </p:txBody>
      </p:sp>
      <p:sp>
        <p:nvSpPr>
          <p:cNvPr id="9" name="!!pruh"/>
          <p:cNvSpPr/>
          <p:nvPr/>
        </p:nvSpPr>
        <p:spPr>
          <a:xfrm>
            <a:off x="14630400" y="1005840"/>
            <a:ext cx="822960" cy="76200"/>
          </a:xfrm>
          <a:prstGeom prst="rect">
            <a:avLst/>
          </a:prstGeom>
          <a:solidFill>
            <a:srgbClr val="F4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velky"/>
          <p:cNvSpPr txBox="1"/>
          <p:nvPr/>
        </p:nvSpPr>
        <p:spPr>
          <a:xfrm>
            <a:off x="731520" y="1920240"/>
            <a:ext cx="10972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4000">
                <a:solidFill>
                  <a:srgbClr val="F4F4F2"/>
                </a:solidFill>
                <a:latin typeface="Segoe UI Black"/>
              </a:rPr>
              <a:t>Popojedem</a:t>
            </a:r>
            <a:r>
              <a:rPr sz="14000">
                <a:solidFill>
                  <a:srgbClr val="8EE06A"/>
                </a:solidFill>
                <a:latin typeface="Segoe UI Black"/>
              </a:rPr>
              <a:t>.</a:t>
            </a:r>
          </a:p>
        </p:txBody>
      </p:sp>
      <p:sp>
        <p:nvSpPr>
          <p:cNvPr id="11" name="!!sub"/>
          <p:cNvSpPr txBox="1"/>
          <p:nvPr/>
        </p:nvSpPr>
        <p:spPr>
          <a:xfrm>
            <a:off x="777240" y="4251960"/>
            <a:ext cx="9144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2800">
                <a:solidFill>
                  <a:srgbClr val="8B9099"/>
                </a:solidFill>
                <a:latin typeface="Segoe UI"/>
              </a:rPr>
              <a:t>KAM — Krajský analytický model</a:t>
            </a:r>
          </a:p>
          <a:p>
            <a:pPr algn="l">
              <a:lnSpc>
                <a:spcPct val="90000"/>
              </a:lnSpc>
            </a:pPr>
            <a:r>
              <a:rPr sz="2800">
                <a:solidFill>
                  <a:srgbClr val="8B9099"/>
                </a:solidFill>
                <a:latin typeface="Segoe UI"/>
              </a:rPr>
              <a:t>Hackathon Královéhradeckého kraje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10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kruh"/>
          <p:cNvSpPr/>
          <p:nvPr/>
        </p:nvSpPr>
        <p:spPr>
          <a:xfrm>
            <a:off x="-2286000" y="3291840"/>
            <a:ext cx="6858000" cy="6858000"/>
          </a:xfrm>
          <a:prstGeom prst="ellipse">
            <a:avLst/>
          </a:prstGeom>
          <a:solidFill>
            <a:srgbClr val="A78BF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kruh2"/>
          <p:cNvSpPr/>
          <p:nvPr/>
        </p:nvSpPr>
        <p:spPr>
          <a:xfrm>
            <a:off x="10607040" y="640080"/>
            <a:ext cx="914400" cy="914400"/>
          </a:xfrm>
          <a:prstGeom prst="ellipse">
            <a:avLst/>
          </a:prstGeom>
          <a:solidFill>
            <a:srgbClr val="8EE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graf"/>
          <p:cNvSpPr/>
          <p:nvPr/>
        </p:nvSpPr>
        <p:spPr>
          <a:xfrm>
            <a:off x="14630400" y="3840480"/>
            <a:ext cx="12161520" cy="3017520"/>
          </a:xfrm>
          <a:custGeom>
            <a:avLst/>
            <a:gdLst/>
            <a:ahLst/>
            <a:cxnLst/>
            <a:rect l="l" t="t" r="r" b="b"/>
            <a:pathLst>
              <a:path w="12161520" h="3017520">
                <a:moveTo>
                  <a:pt x="0" y="3017520"/>
                </a:moveTo>
                <a:lnTo>
                  <a:pt x="0" y="1723457"/>
                </a:lnTo>
                <a:lnTo>
                  <a:pt x="579120" y="1725115"/>
                </a:lnTo>
                <a:lnTo>
                  <a:pt x="1158240" y="1682093"/>
                </a:lnTo>
                <a:lnTo>
                  <a:pt x="1737360" y="1680352"/>
                </a:lnTo>
                <a:lnTo>
                  <a:pt x="2316480" y="1665182"/>
                </a:lnTo>
                <a:lnTo>
                  <a:pt x="2895600" y="1427441"/>
                </a:lnTo>
                <a:lnTo>
                  <a:pt x="3474720" y="1427939"/>
                </a:lnTo>
                <a:lnTo>
                  <a:pt x="4053840" y="1547058"/>
                </a:lnTo>
                <a:lnTo>
                  <a:pt x="4632960" y="1546395"/>
                </a:lnTo>
                <a:lnTo>
                  <a:pt x="5212080" y="1388564"/>
                </a:lnTo>
                <a:lnTo>
                  <a:pt x="5791200" y="1416748"/>
                </a:lnTo>
                <a:lnTo>
                  <a:pt x="6370320" y="562024"/>
                </a:lnTo>
                <a:lnTo>
                  <a:pt x="6949440" y="763540"/>
                </a:lnTo>
                <a:lnTo>
                  <a:pt x="7528560" y="725492"/>
                </a:lnTo>
                <a:lnTo>
                  <a:pt x="8107680" y="719938"/>
                </a:lnTo>
                <a:lnTo>
                  <a:pt x="8686800" y="706841"/>
                </a:lnTo>
                <a:lnTo>
                  <a:pt x="9265920" y="314585"/>
                </a:lnTo>
                <a:lnTo>
                  <a:pt x="9845040" y="666305"/>
                </a:lnTo>
                <a:lnTo>
                  <a:pt x="10424160" y="0"/>
                </a:lnTo>
                <a:lnTo>
                  <a:pt x="11003280" y="430222"/>
                </a:lnTo>
                <a:lnTo>
                  <a:pt x="11582400" y="1015705"/>
                </a:lnTo>
                <a:lnTo>
                  <a:pt x="12161520" y="2747119"/>
                </a:lnTo>
                <a:lnTo>
                  <a:pt x="12161520" y="3017520"/>
                </a:lnTo>
                <a:close/>
              </a:path>
            </a:pathLst>
          </a:custGeom>
          <a:solidFill>
            <a:srgbClr val="A78BFA">
              <a:alpha val="55000"/>
            </a:srgbClr>
          </a:solidFill>
          <a:ln w="381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!!obr1" descr="ob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0" y="914400"/>
            <a:ext cx="5486400" cy="3836416"/>
          </a:xfrm>
          <a:prstGeom prst="rect">
            <a:avLst/>
          </a:prstGeom>
          <a:ln w="12700">
            <a:solidFill>
              <a:srgbClr val="2A2E35"/>
            </a:solidFill>
          </a:ln>
        </p:spPr>
      </p:pic>
      <p:pic>
        <p:nvPicPr>
          <p:cNvPr id="6" name="!!obr2" descr="scen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0" y="914400"/>
            <a:ext cx="5486400" cy="3836416"/>
          </a:xfrm>
          <a:prstGeom prst="rect">
            <a:avLst/>
          </a:prstGeom>
          <a:ln w="12700">
            <a:solidFill>
              <a:srgbClr val="2A2E35"/>
            </a:solidFill>
          </a:ln>
        </p:spPr>
      </p:pic>
      <p:pic>
        <p:nvPicPr>
          <p:cNvPr id="7" name="!!obr3" descr="sta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0400" y="914400"/>
            <a:ext cx="5486400" cy="3836416"/>
          </a:xfrm>
          <a:prstGeom prst="rect">
            <a:avLst/>
          </a:prstGeom>
          <a:ln w="12700">
            <a:solidFill>
              <a:srgbClr val="2A2E35"/>
            </a:solidFill>
          </a:ln>
        </p:spPr>
      </p:pic>
      <p:sp>
        <p:nvSpPr>
          <p:cNvPr id="8" name="!!stitek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600">
                <a:solidFill>
                  <a:srgbClr val="A78BFA"/>
                </a:solidFill>
                <a:latin typeface="Segoe UI Semibold"/>
              </a:rPr>
              <a:t>DATA</a:t>
            </a:r>
          </a:p>
        </p:txBody>
      </p:sp>
      <p:sp>
        <p:nvSpPr>
          <p:cNvPr id="9" name="!!pruh"/>
          <p:cNvSpPr/>
          <p:nvPr/>
        </p:nvSpPr>
        <p:spPr>
          <a:xfrm>
            <a:off x="731520" y="1005840"/>
            <a:ext cx="822960" cy="762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velky"/>
          <p:cNvSpPr txBox="1"/>
          <p:nvPr/>
        </p:nvSpPr>
        <p:spPr>
          <a:xfrm>
            <a:off x="731520" y="1188720"/>
            <a:ext cx="1143000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23000">
                <a:solidFill>
                  <a:srgbClr val="F4F4F2"/>
                </a:solidFill>
                <a:latin typeface="Segoe UI Black"/>
              </a:rPr>
              <a:t>19 344</a:t>
            </a:r>
          </a:p>
        </p:txBody>
      </p:sp>
      <p:sp>
        <p:nvSpPr>
          <p:cNvPr id="11" name="!!sub"/>
          <p:cNvSpPr txBox="1"/>
          <p:nvPr/>
        </p:nvSpPr>
        <p:spPr>
          <a:xfrm>
            <a:off x="777240" y="480060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3000">
                <a:solidFill>
                  <a:srgbClr val="8B9099"/>
                </a:solidFill>
                <a:latin typeface="Segoe UI"/>
              </a:rPr>
              <a:t>funkčních datových sad z 396 zdrojů</a:t>
            </a:r>
          </a:p>
          <a:p>
            <a:pPr algn="l">
              <a:lnSpc>
                <a:spcPct val="90000"/>
              </a:lnSpc>
            </a:pPr>
            <a:r>
              <a:rPr sz="3000">
                <a:solidFill>
                  <a:srgbClr val="8B9099"/>
                </a:solidFill>
                <a:latin typeface="Segoe UI"/>
              </a:rPr>
              <a:t>ověřených: v každé jsme našli skutečná data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kruh"/>
          <p:cNvSpPr/>
          <p:nvPr/>
        </p:nvSpPr>
        <p:spPr>
          <a:xfrm>
            <a:off x="8778240" y="-2011680"/>
            <a:ext cx="4937760" cy="493776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kruh2"/>
          <p:cNvSpPr/>
          <p:nvPr/>
        </p:nvSpPr>
        <p:spPr>
          <a:xfrm>
            <a:off x="822960" y="6035040"/>
            <a:ext cx="457200" cy="457200"/>
          </a:xfrm>
          <a:prstGeom prst="ellipse">
            <a:avLst/>
          </a:prstGeom>
          <a:solidFill>
            <a:srgbClr val="8EE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graf"/>
          <p:cNvSpPr/>
          <p:nvPr/>
        </p:nvSpPr>
        <p:spPr>
          <a:xfrm>
            <a:off x="0" y="4572000"/>
            <a:ext cx="12191695" cy="2286000"/>
          </a:xfrm>
          <a:custGeom>
            <a:avLst/>
            <a:gdLst/>
            <a:ahLst/>
            <a:cxnLst/>
            <a:rect l="l" t="t" r="r" b="b"/>
            <a:pathLst>
              <a:path w="12191695" h="2286000">
                <a:moveTo>
                  <a:pt x="0" y="2286000"/>
                </a:moveTo>
                <a:lnTo>
                  <a:pt x="0" y="1305649"/>
                </a:lnTo>
                <a:lnTo>
                  <a:pt x="580556" y="1306905"/>
                </a:lnTo>
                <a:lnTo>
                  <a:pt x="1161113" y="1274313"/>
                </a:lnTo>
                <a:lnTo>
                  <a:pt x="1741670" y="1272994"/>
                </a:lnTo>
                <a:lnTo>
                  <a:pt x="2322227" y="1261502"/>
                </a:lnTo>
                <a:lnTo>
                  <a:pt x="2902784" y="1081395"/>
                </a:lnTo>
                <a:lnTo>
                  <a:pt x="3483341" y="1081772"/>
                </a:lnTo>
                <a:lnTo>
                  <a:pt x="4063898" y="1172014"/>
                </a:lnTo>
                <a:lnTo>
                  <a:pt x="4644455" y="1171511"/>
                </a:lnTo>
                <a:lnTo>
                  <a:pt x="5225012" y="1051942"/>
                </a:lnTo>
                <a:lnTo>
                  <a:pt x="5805569" y="1073294"/>
                </a:lnTo>
                <a:lnTo>
                  <a:pt x="6386125" y="425776"/>
                </a:lnTo>
                <a:lnTo>
                  <a:pt x="6966682" y="578440"/>
                </a:lnTo>
                <a:lnTo>
                  <a:pt x="7547239" y="549615"/>
                </a:lnTo>
                <a:lnTo>
                  <a:pt x="8127796" y="545408"/>
                </a:lnTo>
                <a:lnTo>
                  <a:pt x="8708353" y="535485"/>
                </a:lnTo>
                <a:lnTo>
                  <a:pt x="9288910" y="238322"/>
                </a:lnTo>
                <a:lnTo>
                  <a:pt x="9869467" y="504777"/>
                </a:lnTo>
                <a:lnTo>
                  <a:pt x="10450024" y="0"/>
                </a:lnTo>
                <a:lnTo>
                  <a:pt x="11030581" y="325926"/>
                </a:lnTo>
                <a:lnTo>
                  <a:pt x="11611138" y="769474"/>
                </a:lnTo>
                <a:lnTo>
                  <a:pt x="12191695" y="2081151"/>
                </a:lnTo>
                <a:lnTo>
                  <a:pt x="12191695" y="2286000"/>
                </a:lnTo>
                <a:close/>
              </a:path>
            </a:pathLst>
          </a:custGeom>
          <a:solidFill>
            <a:srgbClr val="A78BFA">
              <a:alpha val="55000"/>
            </a:srgbClr>
          </a:solidFill>
          <a:ln w="381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!!obr1" descr="ob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0" y="914400"/>
            <a:ext cx="5486400" cy="3836416"/>
          </a:xfrm>
          <a:prstGeom prst="rect">
            <a:avLst/>
          </a:prstGeom>
          <a:ln w="12700">
            <a:solidFill>
              <a:srgbClr val="2A2E35"/>
            </a:solidFill>
          </a:ln>
        </p:spPr>
      </p:pic>
      <p:pic>
        <p:nvPicPr>
          <p:cNvPr id="6" name="!!obr2" descr="scen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0" y="914400"/>
            <a:ext cx="5486400" cy="3836416"/>
          </a:xfrm>
          <a:prstGeom prst="rect">
            <a:avLst/>
          </a:prstGeom>
          <a:ln w="12700">
            <a:solidFill>
              <a:srgbClr val="2A2E35"/>
            </a:solidFill>
          </a:ln>
        </p:spPr>
      </p:pic>
      <p:pic>
        <p:nvPicPr>
          <p:cNvPr id="7" name="!!obr3" descr="sta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0400" y="914400"/>
            <a:ext cx="5486400" cy="3836416"/>
          </a:xfrm>
          <a:prstGeom prst="rect">
            <a:avLst/>
          </a:prstGeom>
          <a:ln w="12700">
            <a:solidFill>
              <a:srgbClr val="2A2E35"/>
            </a:solidFill>
          </a:ln>
        </p:spPr>
      </p:pic>
      <p:sp>
        <p:nvSpPr>
          <p:cNvPr id="8" name="!!stitek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600">
                <a:solidFill>
                  <a:srgbClr val="A78BFA"/>
                </a:solidFill>
                <a:latin typeface="Segoe UI Semibold"/>
              </a:rPr>
              <a:t>DATA</a:t>
            </a:r>
          </a:p>
        </p:txBody>
      </p:sp>
      <p:sp>
        <p:nvSpPr>
          <p:cNvPr id="9" name="!!pruh"/>
          <p:cNvSpPr/>
          <p:nvPr/>
        </p:nvSpPr>
        <p:spPr>
          <a:xfrm>
            <a:off x="731520" y="1005840"/>
            <a:ext cx="822960" cy="762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velky"/>
          <p:cNvSpPr txBox="1"/>
          <p:nvPr/>
        </p:nvSpPr>
        <p:spPr>
          <a:xfrm>
            <a:off x="731520" y="1097280"/>
            <a:ext cx="114300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8000">
                <a:solidFill>
                  <a:srgbClr val="F4F4F2"/>
                </a:solidFill>
                <a:latin typeface="Segoe UI Black"/>
              </a:rPr>
              <a:t>488 614</a:t>
            </a:r>
          </a:p>
        </p:txBody>
      </p:sp>
      <p:sp>
        <p:nvSpPr>
          <p:cNvPr id="11" name="!!sub"/>
          <p:cNvSpPr txBox="1"/>
          <p:nvPr/>
        </p:nvSpPr>
        <p:spPr>
          <a:xfrm>
            <a:off x="777240" y="38862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2800">
                <a:solidFill>
                  <a:srgbClr val="8B9099"/>
                </a:solidFill>
                <a:latin typeface="Segoe UI"/>
              </a:rPr>
              <a:t>hodnot počítáme z 57 sad · každá s původem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kruh"/>
          <p:cNvSpPr/>
          <p:nvPr/>
        </p:nvSpPr>
        <p:spPr>
          <a:xfrm>
            <a:off x="5120640" y="548640"/>
            <a:ext cx="7132320" cy="7132320"/>
          </a:xfrm>
          <a:prstGeom prst="ellipse">
            <a:avLst/>
          </a:prstGeom>
          <a:solidFill>
            <a:srgbClr val="5AA9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kruh2"/>
          <p:cNvSpPr/>
          <p:nvPr/>
        </p:nvSpPr>
        <p:spPr>
          <a:xfrm>
            <a:off x="5120640" y="502920"/>
            <a:ext cx="457200" cy="457200"/>
          </a:xfrm>
          <a:prstGeom prst="ellipse">
            <a:avLst/>
          </a:prstGeom>
          <a:solidFill>
            <a:srgbClr val="5A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graf"/>
          <p:cNvSpPr/>
          <p:nvPr/>
        </p:nvSpPr>
        <p:spPr>
          <a:xfrm>
            <a:off x="14630400" y="3840480"/>
            <a:ext cx="12161520" cy="3017520"/>
          </a:xfrm>
          <a:custGeom>
            <a:avLst/>
            <a:gdLst/>
            <a:ahLst/>
            <a:cxnLst/>
            <a:rect l="l" t="t" r="r" b="b"/>
            <a:pathLst>
              <a:path w="12161520" h="3017520">
                <a:moveTo>
                  <a:pt x="0" y="3017520"/>
                </a:moveTo>
                <a:lnTo>
                  <a:pt x="0" y="1723457"/>
                </a:lnTo>
                <a:lnTo>
                  <a:pt x="579120" y="1725115"/>
                </a:lnTo>
                <a:lnTo>
                  <a:pt x="1158240" y="1682093"/>
                </a:lnTo>
                <a:lnTo>
                  <a:pt x="1737360" y="1680352"/>
                </a:lnTo>
                <a:lnTo>
                  <a:pt x="2316480" y="1665182"/>
                </a:lnTo>
                <a:lnTo>
                  <a:pt x="2895600" y="1427441"/>
                </a:lnTo>
                <a:lnTo>
                  <a:pt x="3474720" y="1427939"/>
                </a:lnTo>
                <a:lnTo>
                  <a:pt x="4053840" y="1547058"/>
                </a:lnTo>
                <a:lnTo>
                  <a:pt x="4632960" y="1546395"/>
                </a:lnTo>
                <a:lnTo>
                  <a:pt x="5212080" y="1388564"/>
                </a:lnTo>
                <a:lnTo>
                  <a:pt x="5791200" y="1416748"/>
                </a:lnTo>
                <a:lnTo>
                  <a:pt x="6370320" y="562024"/>
                </a:lnTo>
                <a:lnTo>
                  <a:pt x="6949440" y="763540"/>
                </a:lnTo>
                <a:lnTo>
                  <a:pt x="7528560" y="725492"/>
                </a:lnTo>
                <a:lnTo>
                  <a:pt x="8107680" y="719938"/>
                </a:lnTo>
                <a:lnTo>
                  <a:pt x="8686800" y="706841"/>
                </a:lnTo>
                <a:lnTo>
                  <a:pt x="9265920" y="314585"/>
                </a:lnTo>
                <a:lnTo>
                  <a:pt x="9845040" y="666305"/>
                </a:lnTo>
                <a:lnTo>
                  <a:pt x="10424160" y="0"/>
                </a:lnTo>
                <a:lnTo>
                  <a:pt x="11003280" y="430222"/>
                </a:lnTo>
                <a:lnTo>
                  <a:pt x="11582400" y="1015705"/>
                </a:lnTo>
                <a:lnTo>
                  <a:pt x="12161520" y="2747119"/>
                </a:lnTo>
                <a:lnTo>
                  <a:pt x="12161520" y="3017520"/>
                </a:lnTo>
                <a:close/>
              </a:path>
            </a:pathLst>
          </a:custGeom>
          <a:solidFill>
            <a:srgbClr val="A78BFA">
              <a:alpha val="55000"/>
            </a:srgbClr>
          </a:solidFill>
          <a:ln w="381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!!obr1" descr="ob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450000">
            <a:off x="6035040" y="1143000"/>
            <a:ext cx="5852160" cy="4092177"/>
          </a:xfrm>
          <a:prstGeom prst="rect">
            <a:avLst/>
          </a:prstGeom>
          <a:ln w="12700">
            <a:solidFill>
              <a:srgbClr val="2A2E35"/>
            </a:solidFill>
          </a:ln>
        </p:spPr>
      </p:pic>
      <p:pic>
        <p:nvPicPr>
          <p:cNvPr id="6" name="!!obr2" descr="scen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0" y="914400"/>
            <a:ext cx="5486400" cy="3836416"/>
          </a:xfrm>
          <a:prstGeom prst="rect">
            <a:avLst/>
          </a:prstGeom>
          <a:ln w="12700">
            <a:solidFill>
              <a:srgbClr val="2A2E35"/>
            </a:solidFill>
          </a:ln>
        </p:spPr>
      </p:pic>
      <p:pic>
        <p:nvPicPr>
          <p:cNvPr id="7" name="!!obr3" descr="sta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0400" y="914400"/>
            <a:ext cx="5486400" cy="3836416"/>
          </a:xfrm>
          <a:prstGeom prst="rect">
            <a:avLst/>
          </a:prstGeom>
          <a:ln w="12700">
            <a:solidFill>
              <a:srgbClr val="2A2E35"/>
            </a:solidFill>
          </a:ln>
        </p:spPr>
      </p:pic>
      <p:sp>
        <p:nvSpPr>
          <p:cNvPr id="8" name="!!stitek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600">
                <a:solidFill>
                  <a:srgbClr val="5AA9FF"/>
                </a:solidFill>
                <a:latin typeface="Segoe UI Semibold"/>
              </a:rPr>
              <a:t>OBCE</a:t>
            </a:r>
          </a:p>
        </p:txBody>
      </p:sp>
      <p:sp>
        <p:nvSpPr>
          <p:cNvPr id="9" name="!!pruh"/>
          <p:cNvSpPr/>
          <p:nvPr/>
        </p:nvSpPr>
        <p:spPr>
          <a:xfrm>
            <a:off x="731520" y="1005840"/>
            <a:ext cx="822960" cy="76200"/>
          </a:xfrm>
          <a:prstGeom prst="rect">
            <a:avLst/>
          </a:prstGeom>
          <a:solidFill>
            <a:srgbClr val="5A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velky"/>
          <p:cNvSpPr txBox="1"/>
          <p:nvPr/>
        </p:nvSpPr>
        <p:spPr>
          <a:xfrm>
            <a:off x="731520" y="1188720"/>
            <a:ext cx="566928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3000">
                <a:solidFill>
                  <a:srgbClr val="F4F4F2"/>
                </a:solidFill>
                <a:latin typeface="Segoe UI Black"/>
              </a:rPr>
              <a:t>448</a:t>
            </a:r>
          </a:p>
          <a:p>
            <a:pPr algn="l">
              <a:lnSpc>
                <a:spcPct val="90000"/>
              </a:lnSpc>
            </a:pPr>
            <a:r>
              <a:rPr sz="13000">
                <a:solidFill>
                  <a:srgbClr val="5AA9FF"/>
                </a:solidFill>
                <a:latin typeface="Segoe UI Black"/>
              </a:rPr>
              <a:t>obcí</a:t>
            </a:r>
          </a:p>
        </p:txBody>
      </p:sp>
      <p:sp>
        <p:nvSpPr>
          <p:cNvPr id="11" name="!!sub"/>
          <p:cNvSpPr txBox="1"/>
          <p:nvPr/>
        </p:nvSpPr>
        <p:spPr>
          <a:xfrm>
            <a:off x="777240" y="5257800"/>
            <a:ext cx="5120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2600">
                <a:solidFill>
                  <a:srgbClr val="8B9099"/>
                </a:solidFill>
                <a:latin typeface="Segoe UI"/>
              </a:rPr>
              <a:t>profil, rizika, rozpočet</a:t>
            </a:r>
          </a:p>
          <a:p>
            <a:pPr algn="l">
              <a:lnSpc>
                <a:spcPct val="90000"/>
              </a:lnSpc>
            </a:pPr>
            <a:r>
              <a:rPr sz="2600">
                <a:solidFill>
                  <a:srgbClr val="8B9099"/>
                </a:solidFill>
                <a:latin typeface="Segoe UI"/>
              </a:rPr>
              <a:t>a znak každé z nich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kruh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FF9A3C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kruh2"/>
          <p:cNvSpPr/>
          <p:nvPr/>
        </p:nvSpPr>
        <p:spPr>
          <a:xfrm>
            <a:off x="11155680" y="6035040"/>
            <a:ext cx="548640" cy="548640"/>
          </a:xfrm>
          <a:prstGeom prst="ellipse">
            <a:avLst/>
          </a:prstGeom>
          <a:solidFill>
            <a:srgbClr val="5A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graf"/>
          <p:cNvSpPr/>
          <p:nvPr/>
        </p:nvSpPr>
        <p:spPr>
          <a:xfrm>
            <a:off x="14630400" y="3840480"/>
            <a:ext cx="12161520" cy="3017520"/>
          </a:xfrm>
          <a:custGeom>
            <a:avLst/>
            <a:gdLst/>
            <a:ahLst/>
            <a:cxnLst/>
            <a:rect l="l" t="t" r="r" b="b"/>
            <a:pathLst>
              <a:path w="12161520" h="3017520">
                <a:moveTo>
                  <a:pt x="0" y="3017520"/>
                </a:moveTo>
                <a:lnTo>
                  <a:pt x="0" y="1723457"/>
                </a:lnTo>
                <a:lnTo>
                  <a:pt x="579120" y="1725115"/>
                </a:lnTo>
                <a:lnTo>
                  <a:pt x="1158240" y="1682093"/>
                </a:lnTo>
                <a:lnTo>
                  <a:pt x="1737360" y="1680352"/>
                </a:lnTo>
                <a:lnTo>
                  <a:pt x="2316480" y="1665182"/>
                </a:lnTo>
                <a:lnTo>
                  <a:pt x="2895600" y="1427441"/>
                </a:lnTo>
                <a:lnTo>
                  <a:pt x="3474720" y="1427939"/>
                </a:lnTo>
                <a:lnTo>
                  <a:pt x="4053840" y="1547058"/>
                </a:lnTo>
                <a:lnTo>
                  <a:pt x="4632960" y="1546395"/>
                </a:lnTo>
                <a:lnTo>
                  <a:pt x="5212080" y="1388564"/>
                </a:lnTo>
                <a:lnTo>
                  <a:pt x="5791200" y="1416748"/>
                </a:lnTo>
                <a:lnTo>
                  <a:pt x="6370320" y="562024"/>
                </a:lnTo>
                <a:lnTo>
                  <a:pt x="6949440" y="763540"/>
                </a:lnTo>
                <a:lnTo>
                  <a:pt x="7528560" y="725492"/>
                </a:lnTo>
                <a:lnTo>
                  <a:pt x="8107680" y="719938"/>
                </a:lnTo>
                <a:lnTo>
                  <a:pt x="8686800" y="706841"/>
                </a:lnTo>
                <a:lnTo>
                  <a:pt x="9265920" y="314585"/>
                </a:lnTo>
                <a:lnTo>
                  <a:pt x="9845040" y="666305"/>
                </a:lnTo>
                <a:lnTo>
                  <a:pt x="10424160" y="0"/>
                </a:lnTo>
                <a:lnTo>
                  <a:pt x="11003280" y="430222"/>
                </a:lnTo>
                <a:lnTo>
                  <a:pt x="11582400" y="1015705"/>
                </a:lnTo>
                <a:lnTo>
                  <a:pt x="12161520" y="2747119"/>
                </a:lnTo>
                <a:lnTo>
                  <a:pt x="12161520" y="3017520"/>
                </a:lnTo>
                <a:close/>
              </a:path>
            </a:pathLst>
          </a:custGeom>
          <a:solidFill>
            <a:srgbClr val="A78BFA">
              <a:alpha val="55000"/>
            </a:srgbClr>
          </a:solidFill>
          <a:ln w="381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!!obr1" descr="scen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50000">
            <a:off x="6949440" y="2103120"/>
            <a:ext cx="4937760" cy="3452774"/>
          </a:xfrm>
          <a:prstGeom prst="rect">
            <a:avLst/>
          </a:prstGeom>
          <a:ln w="12700">
            <a:solidFill>
              <a:srgbClr val="2A2E35"/>
            </a:solidFill>
          </a:ln>
        </p:spPr>
      </p:pic>
      <p:pic>
        <p:nvPicPr>
          <p:cNvPr id="6" name="!!obr2" descr="pruvod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60000">
            <a:off x="6583680" y="822960"/>
            <a:ext cx="3657600" cy="2557611"/>
          </a:xfrm>
          <a:prstGeom prst="rect">
            <a:avLst/>
          </a:prstGeom>
          <a:ln w="12700">
            <a:solidFill>
              <a:srgbClr val="2A2E35"/>
            </a:solidFill>
          </a:ln>
        </p:spPr>
      </p:pic>
      <p:pic>
        <p:nvPicPr>
          <p:cNvPr id="7" name="!!obr3" descr="sta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0400" y="914400"/>
            <a:ext cx="5486400" cy="3836416"/>
          </a:xfrm>
          <a:prstGeom prst="rect">
            <a:avLst/>
          </a:prstGeom>
          <a:ln w="12700">
            <a:solidFill>
              <a:srgbClr val="2A2E35"/>
            </a:solidFill>
          </a:ln>
        </p:spPr>
      </p:pic>
      <p:sp>
        <p:nvSpPr>
          <p:cNvPr id="8" name="!!stitek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600">
                <a:solidFill>
                  <a:srgbClr val="FF9A3C"/>
                </a:solidFill>
                <a:latin typeface="Segoe UI Semibold"/>
              </a:rPr>
              <a:t>SCÉNÁŘE</a:t>
            </a:r>
          </a:p>
        </p:txBody>
      </p:sp>
      <p:sp>
        <p:nvSpPr>
          <p:cNvPr id="9" name="!!pruh"/>
          <p:cNvSpPr/>
          <p:nvPr/>
        </p:nvSpPr>
        <p:spPr>
          <a:xfrm>
            <a:off x="731520" y="1005840"/>
            <a:ext cx="822960" cy="76200"/>
          </a:xfrm>
          <a:prstGeom prst="rect">
            <a:avLst/>
          </a:prstGeom>
          <a:solidFill>
            <a:srgbClr val="FF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velky"/>
          <p:cNvSpPr txBox="1"/>
          <p:nvPr/>
        </p:nvSpPr>
        <p:spPr>
          <a:xfrm>
            <a:off x="731520" y="1371600"/>
            <a:ext cx="59436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>
                <a:solidFill>
                  <a:srgbClr val="F4F4F2"/>
                </a:solidFill>
                <a:latin typeface="Segoe UI Black"/>
              </a:rPr>
              <a:t>Co</a:t>
            </a:r>
          </a:p>
          <a:p>
            <a:pPr algn="l">
              <a:lnSpc>
                <a:spcPct val="90000"/>
              </a:lnSpc>
            </a:pPr>
            <a:r>
              <a:rPr sz="12000">
                <a:solidFill>
                  <a:srgbClr val="F4F4F2"/>
                </a:solidFill>
                <a:latin typeface="Segoe UI Black"/>
              </a:rPr>
              <a:t>když…?</a:t>
            </a:r>
          </a:p>
        </p:txBody>
      </p:sp>
      <p:sp>
        <p:nvSpPr>
          <p:cNvPr id="11" name="!!sub"/>
          <p:cNvSpPr txBox="1"/>
          <p:nvPr/>
        </p:nvSpPr>
        <p:spPr>
          <a:xfrm>
            <a:off x="777240" y="5120640"/>
            <a:ext cx="5303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2600">
                <a:solidFill>
                  <a:srgbClr val="8B9099"/>
                </a:solidFill>
                <a:latin typeface="Segoe UI"/>
              </a:rPr>
              <a:t>20 opatření a jejich dopad</a:t>
            </a:r>
          </a:p>
          <a:p>
            <a:pPr algn="l">
              <a:lnSpc>
                <a:spcPct val="90000"/>
              </a:lnSpc>
            </a:pPr>
            <a:r>
              <a:rPr sz="2600">
                <a:solidFill>
                  <a:srgbClr val="8B9099"/>
                </a:solidFill>
                <a:latin typeface="Segoe UI"/>
              </a:rPr>
              <a:t>na školy, lékaře i daně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kruh"/>
          <p:cNvSpPr/>
          <p:nvPr/>
        </p:nvSpPr>
        <p:spPr>
          <a:xfrm>
            <a:off x="5486400" y="2011680"/>
            <a:ext cx="8229600" cy="8229600"/>
          </a:xfrm>
          <a:prstGeom prst="ellipse">
            <a:avLst/>
          </a:prstGeom>
          <a:solidFill>
            <a:srgbClr val="FF9A3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kruh2"/>
          <p:cNvSpPr/>
          <p:nvPr/>
        </p:nvSpPr>
        <p:spPr>
          <a:xfrm>
            <a:off x="4846320" y="6035040"/>
            <a:ext cx="457200" cy="457200"/>
          </a:xfrm>
          <a:prstGeom prst="ellipse">
            <a:avLst/>
          </a:prstGeom>
          <a:solidFill>
            <a:srgbClr val="8EE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graf"/>
          <p:cNvSpPr/>
          <p:nvPr/>
        </p:nvSpPr>
        <p:spPr>
          <a:xfrm>
            <a:off x="14630400" y="3840480"/>
            <a:ext cx="12161520" cy="3017520"/>
          </a:xfrm>
          <a:custGeom>
            <a:avLst/>
            <a:gdLst/>
            <a:ahLst/>
            <a:cxnLst/>
            <a:rect l="l" t="t" r="r" b="b"/>
            <a:pathLst>
              <a:path w="12161520" h="3017520">
                <a:moveTo>
                  <a:pt x="0" y="3017520"/>
                </a:moveTo>
                <a:lnTo>
                  <a:pt x="0" y="1723457"/>
                </a:lnTo>
                <a:lnTo>
                  <a:pt x="579120" y="1725115"/>
                </a:lnTo>
                <a:lnTo>
                  <a:pt x="1158240" y="1682093"/>
                </a:lnTo>
                <a:lnTo>
                  <a:pt x="1737360" y="1680352"/>
                </a:lnTo>
                <a:lnTo>
                  <a:pt x="2316480" y="1665182"/>
                </a:lnTo>
                <a:lnTo>
                  <a:pt x="2895600" y="1427441"/>
                </a:lnTo>
                <a:lnTo>
                  <a:pt x="3474720" y="1427939"/>
                </a:lnTo>
                <a:lnTo>
                  <a:pt x="4053840" y="1547058"/>
                </a:lnTo>
                <a:lnTo>
                  <a:pt x="4632960" y="1546395"/>
                </a:lnTo>
                <a:lnTo>
                  <a:pt x="5212080" y="1388564"/>
                </a:lnTo>
                <a:lnTo>
                  <a:pt x="5791200" y="1416748"/>
                </a:lnTo>
                <a:lnTo>
                  <a:pt x="6370320" y="562024"/>
                </a:lnTo>
                <a:lnTo>
                  <a:pt x="6949440" y="763540"/>
                </a:lnTo>
                <a:lnTo>
                  <a:pt x="7528560" y="725492"/>
                </a:lnTo>
                <a:lnTo>
                  <a:pt x="8107680" y="719938"/>
                </a:lnTo>
                <a:lnTo>
                  <a:pt x="8686800" y="706841"/>
                </a:lnTo>
                <a:lnTo>
                  <a:pt x="9265920" y="314585"/>
                </a:lnTo>
                <a:lnTo>
                  <a:pt x="9845040" y="666305"/>
                </a:lnTo>
                <a:lnTo>
                  <a:pt x="10424160" y="0"/>
                </a:lnTo>
                <a:lnTo>
                  <a:pt x="11003280" y="430222"/>
                </a:lnTo>
                <a:lnTo>
                  <a:pt x="11582400" y="1015705"/>
                </a:lnTo>
                <a:lnTo>
                  <a:pt x="12161520" y="2747119"/>
                </a:lnTo>
                <a:lnTo>
                  <a:pt x="12161520" y="3017520"/>
                </a:lnTo>
                <a:close/>
              </a:path>
            </a:pathLst>
          </a:custGeom>
          <a:solidFill>
            <a:srgbClr val="A78BFA">
              <a:alpha val="55000"/>
            </a:srgbClr>
          </a:solidFill>
          <a:ln w="381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!!obr1" descr="scen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914400"/>
            <a:ext cx="6217920" cy="4347938"/>
          </a:xfrm>
          <a:prstGeom prst="rect">
            <a:avLst/>
          </a:prstGeom>
          <a:ln w="12700">
            <a:solidFill>
              <a:srgbClr val="2A2E35"/>
            </a:solidFill>
          </a:ln>
        </p:spPr>
      </p:pic>
      <p:pic>
        <p:nvPicPr>
          <p:cNvPr id="6" name="!!obr2" descr="pruvod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60000">
            <a:off x="14630400" y="822960"/>
            <a:ext cx="3840480" cy="2685491"/>
          </a:xfrm>
          <a:prstGeom prst="rect">
            <a:avLst/>
          </a:prstGeom>
          <a:ln w="12700">
            <a:solidFill>
              <a:srgbClr val="2A2E35"/>
            </a:solidFill>
          </a:ln>
        </p:spPr>
      </p:pic>
      <p:pic>
        <p:nvPicPr>
          <p:cNvPr id="7" name="!!obr3" descr="sta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0400" y="914400"/>
            <a:ext cx="5486400" cy="3836416"/>
          </a:xfrm>
          <a:prstGeom prst="rect">
            <a:avLst/>
          </a:prstGeom>
          <a:ln w="12700">
            <a:solidFill>
              <a:srgbClr val="2A2E35"/>
            </a:solidFill>
          </a:ln>
        </p:spPr>
      </p:pic>
      <p:sp>
        <p:nvSpPr>
          <p:cNvPr id="8" name="!!stitek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600">
                <a:solidFill>
                  <a:srgbClr val="FF9A3C"/>
                </a:solidFill>
                <a:latin typeface="Segoe UI Semibold"/>
              </a:rPr>
              <a:t>SCÉNÁŘE</a:t>
            </a:r>
          </a:p>
        </p:txBody>
      </p:sp>
      <p:sp>
        <p:nvSpPr>
          <p:cNvPr id="9" name="!!pruh"/>
          <p:cNvSpPr/>
          <p:nvPr/>
        </p:nvSpPr>
        <p:spPr>
          <a:xfrm>
            <a:off x="731520" y="1005840"/>
            <a:ext cx="822960" cy="76200"/>
          </a:xfrm>
          <a:prstGeom prst="rect">
            <a:avLst/>
          </a:prstGeom>
          <a:solidFill>
            <a:srgbClr val="FF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velky"/>
          <p:cNvSpPr txBox="1"/>
          <p:nvPr/>
        </p:nvSpPr>
        <p:spPr>
          <a:xfrm>
            <a:off x="731520" y="1463040"/>
            <a:ext cx="51206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9500">
                <a:solidFill>
                  <a:srgbClr val="F4F4F2"/>
                </a:solidFill>
                <a:latin typeface="Segoe UI Black"/>
              </a:rPr>
              <a:t>Navrhne</a:t>
            </a:r>
          </a:p>
          <a:p>
            <a:pPr algn="l">
              <a:lnSpc>
                <a:spcPct val="90000"/>
              </a:lnSpc>
            </a:pPr>
            <a:r>
              <a:rPr sz="9500">
                <a:solidFill>
                  <a:srgbClr val="FF9A3C"/>
                </a:solidFill>
                <a:latin typeface="Segoe UI Black"/>
              </a:rPr>
              <a:t>samo.</a:t>
            </a:r>
          </a:p>
        </p:txBody>
      </p:sp>
      <p:sp>
        <p:nvSpPr>
          <p:cNvPr id="11" name="!!sub"/>
          <p:cNvSpPr txBox="1"/>
          <p:nvPr/>
        </p:nvSpPr>
        <p:spPr>
          <a:xfrm>
            <a:off x="777240" y="4526280"/>
            <a:ext cx="4754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2600">
                <a:solidFill>
                  <a:srgbClr val="8B9099"/>
                </a:solidFill>
                <a:latin typeface="Segoe UI"/>
              </a:rPr>
              <a:t>najde problém obce</a:t>
            </a:r>
          </a:p>
          <a:p>
            <a:pPr algn="l">
              <a:lnSpc>
                <a:spcPct val="90000"/>
              </a:lnSpc>
            </a:pPr>
            <a:r>
              <a:rPr sz="2600">
                <a:solidFill>
                  <a:srgbClr val="8B9099"/>
                </a:solidFill>
                <a:latin typeface="Segoe UI"/>
              </a:rPr>
              <a:t>a spočítá, co a kolik přidat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kruh"/>
          <p:cNvSpPr/>
          <p:nvPr/>
        </p:nvSpPr>
        <p:spPr>
          <a:xfrm>
            <a:off x="3474720" y="-3840480"/>
            <a:ext cx="8229600" cy="8229600"/>
          </a:xfrm>
          <a:prstGeom prst="ellipse">
            <a:avLst/>
          </a:prstGeom>
          <a:solidFill>
            <a:srgbClr val="F472B6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kruh2"/>
          <p:cNvSpPr/>
          <p:nvPr/>
        </p:nvSpPr>
        <p:spPr>
          <a:xfrm>
            <a:off x="548640" y="6126480"/>
            <a:ext cx="457200" cy="45720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graf"/>
          <p:cNvSpPr/>
          <p:nvPr/>
        </p:nvSpPr>
        <p:spPr>
          <a:xfrm>
            <a:off x="14630400" y="3840480"/>
            <a:ext cx="12161520" cy="3017520"/>
          </a:xfrm>
          <a:custGeom>
            <a:avLst/>
            <a:gdLst/>
            <a:ahLst/>
            <a:cxnLst/>
            <a:rect l="l" t="t" r="r" b="b"/>
            <a:pathLst>
              <a:path w="12161520" h="3017520">
                <a:moveTo>
                  <a:pt x="0" y="3017520"/>
                </a:moveTo>
                <a:lnTo>
                  <a:pt x="0" y="1723457"/>
                </a:lnTo>
                <a:lnTo>
                  <a:pt x="579120" y="1725115"/>
                </a:lnTo>
                <a:lnTo>
                  <a:pt x="1158240" y="1682093"/>
                </a:lnTo>
                <a:lnTo>
                  <a:pt x="1737360" y="1680352"/>
                </a:lnTo>
                <a:lnTo>
                  <a:pt x="2316480" y="1665182"/>
                </a:lnTo>
                <a:lnTo>
                  <a:pt x="2895600" y="1427441"/>
                </a:lnTo>
                <a:lnTo>
                  <a:pt x="3474720" y="1427939"/>
                </a:lnTo>
                <a:lnTo>
                  <a:pt x="4053840" y="1547058"/>
                </a:lnTo>
                <a:lnTo>
                  <a:pt x="4632960" y="1546395"/>
                </a:lnTo>
                <a:lnTo>
                  <a:pt x="5212080" y="1388564"/>
                </a:lnTo>
                <a:lnTo>
                  <a:pt x="5791200" y="1416748"/>
                </a:lnTo>
                <a:lnTo>
                  <a:pt x="6370320" y="562024"/>
                </a:lnTo>
                <a:lnTo>
                  <a:pt x="6949440" y="763540"/>
                </a:lnTo>
                <a:lnTo>
                  <a:pt x="7528560" y="725492"/>
                </a:lnTo>
                <a:lnTo>
                  <a:pt x="8107680" y="719938"/>
                </a:lnTo>
                <a:lnTo>
                  <a:pt x="8686800" y="706841"/>
                </a:lnTo>
                <a:lnTo>
                  <a:pt x="9265920" y="314585"/>
                </a:lnTo>
                <a:lnTo>
                  <a:pt x="9845040" y="666305"/>
                </a:lnTo>
                <a:lnTo>
                  <a:pt x="10424160" y="0"/>
                </a:lnTo>
                <a:lnTo>
                  <a:pt x="11003280" y="430222"/>
                </a:lnTo>
                <a:lnTo>
                  <a:pt x="11582400" y="1015705"/>
                </a:lnTo>
                <a:lnTo>
                  <a:pt x="12161520" y="2747119"/>
                </a:lnTo>
                <a:lnTo>
                  <a:pt x="12161520" y="3017520"/>
                </a:lnTo>
                <a:close/>
              </a:path>
            </a:pathLst>
          </a:custGeom>
          <a:solidFill>
            <a:srgbClr val="A78BFA">
              <a:alpha val="55000"/>
            </a:srgbClr>
          </a:solidFill>
          <a:ln w="381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!!obr1" descr="st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420000">
            <a:off x="822960" y="3246120"/>
            <a:ext cx="4206240" cy="2941252"/>
          </a:xfrm>
          <a:prstGeom prst="rect">
            <a:avLst/>
          </a:prstGeom>
          <a:ln w="12700">
            <a:solidFill>
              <a:srgbClr val="2A2E35"/>
            </a:solidFill>
          </a:ln>
        </p:spPr>
      </p:pic>
      <p:pic>
        <p:nvPicPr>
          <p:cNvPr id="6" name="!!obr2" descr="map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0000">
            <a:off x="4206240" y="2971800"/>
            <a:ext cx="4206240" cy="2941252"/>
          </a:xfrm>
          <a:prstGeom prst="rect">
            <a:avLst/>
          </a:prstGeom>
          <a:ln w="12700">
            <a:solidFill>
              <a:srgbClr val="2A2E35"/>
            </a:solidFill>
          </a:ln>
        </p:spPr>
      </p:pic>
      <p:pic>
        <p:nvPicPr>
          <p:cNvPr id="7" name="!!obr3" descr="hospodaren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510000">
            <a:off x="7680960" y="3291840"/>
            <a:ext cx="4023360" cy="2813372"/>
          </a:xfrm>
          <a:prstGeom prst="rect">
            <a:avLst/>
          </a:prstGeom>
          <a:ln w="12700">
            <a:solidFill>
              <a:srgbClr val="2A2E35"/>
            </a:solidFill>
          </a:ln>
        </p:spPr>
      </p:pic>
      <p:sp>
        <p:nvSpPr>
          <p:cNvPr id="8" name="!!stitek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600">
                <a:solidFill>
                  <a:srgbClr val="F472B6"/>
                </a:solidFill>
                <a:latin typeface="Segoe UI Semibold"/>
              </a:rPr>
              <a:t>GRAFY</a:t>
            </a:r>
          </a:p>
        </p:txBody>
      </p:sp>
      <p:sp>
        <p:nvSpPr>
          <p:cNvPr id="9" name="!!pruh"/>
          <p:cNvSpPr/>
          <p:nvPr/>
        </p:nvSpPr>
        <p:spPr>
          <a:xfrm>
            <a:off x="731520" y="1005840"/>
            <a:ext cx="822960" cy="762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velky"/>
          <p:cNvSpPr txBox="1"/>
          <p:nvPr/>
        </p:nvSpPr>
        <p:spPr>
          <a:xfrm>
            <a:off x="731520" y="1188720"/>
            <a:ext cx="10972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1000">
                <a:solidFill>
                  <a:srgbClr val="F4F4F2"/>
                </a:solidFill>
                <a:latin typeface="Segoe UI Black"/>
              </a:rPr>
              <a:t>Data jsou </a:t>
            </a:r>
            <a:r>
              <a:rPr sz="11000">
                <a:solidFill>
                  <a:srgbClr val="F472B6"/>
                </a:solidFill>
                <a:latin typeface="Segoe UI Black"/>
              </a:rPr>
              <a:t>vidět.</a:t>
            </a:r>
          </a:p>
        </p:txBody>
      </p:sp>
      <p:sp>
        <p:nvSpPr>
          <p:cNvPr id="11" name="!!sub"/>
          <p:cNvSpPr txBox="1"/>
          <p:nvPr/>
        </p:nvSpPr>
        <p:spPr>
          <a:xfrm>
            <a:off x="7315200" y="566928"/>
            <a:ext cx="4206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800">
                <a:solidFill>
                  <a:srgbClr val="8B9099"/>
                </a:solidFill>
                <a:latin typeface="Segoe UI"/>
              </a:rPr>
              <a:t>mapy · trendy · rozpočty · výhledy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kruh"/>
          <p:cNvSpPr/>
          <p:nvPr/>
        </p:nvSpPr>
        <p:spPr>
          <a:xfrm>
            <a:off x="7680960" y="2377440"/>
            <a:ext cx="5943600" cy="5943600"/>
          </a:xfrm>
          <a:prstGeom prst="ellipse">
            <a:avLst/>
          </a:prstGeom>
          <a:solidFill>
            <a:srgbClr val="34D39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kruh2"/>
          <p:cNvSpPr/>
          <p:nvPr/>
        </p:nvSpPr>
        <p:spPr>
          <a:xfrm>
            <a:off x="10789920" y="548640"/>
            <a:ext cx="731520" cy="731520"/>
          </a:xfrm>
          <a:prstGeom prst="ellipse">
            <a:avLst/>
          </a:prstGeom>
          <a:solidFill>
            <a:srgbClr val="FF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graf"/>
          <p:cNvSpPr/>
          <p:nvPr/>
        </p:nvSpPr>
        <p:spPr>
          <a:xfrm>
            <a:off x="14630400" y="3840480"/>
            <a:ext cx="12161520" cy="3017520"/>
          </a:xfrm>
          <a:custGeom>
            <a:avLst/>
            <a:gdLst/>
            <a:ahLst/>
            <a:cxnLst/>
            <a:rect l="l" t="t" r="r" b="b"/>
            <a:pathLst>
              <a:path w="12161520" h="3017520">
                <a:moveTo>
                  <a:pt x="0" y="3017520"/>
                </a:moveTo>
                <a:lnTo>
                  <a:pt x="0" y="1723457"/>
                </a:lnTo>
                <a:lnTo>
                  <a:pt x="579120" y="1725115"/>
                </a:lnTo>
                <a:lnTo>
                  <a:pt x="1158240" y="1682093"/>
                </a:lnTo>
                <a:lnTo>
                  <a:pt x="1737360" y="1680352"/>
                </a:lnTo>
                <a:lnTo>
                  <a:pt x="2316480" y="1665182"/>
                </a:lnTo>
                <a:lnTo>
                  <a:pt x="2895600" y="1427441"/>
                </a:lnTo>
                <a:lnTo>
                  <a:pt x="3474720" y="1427939"/>
                </a:lnTo>
                <a:lnTo>
                  <a:pt x="4053840" y="1547058"/>
                </a:lnTo>
                <a:lnTo>
                  <a:pt x="4632960" y="1546395"/>
                </a:lnTo>
                <a:lnTo>
                  <a:pt x="5212080" y="1388564"/>
                </a:lnTo>
                <a:lnTo>
                  <a:pt x="5791200" y="1416748"/>
                </a:lnTo>
                <a:lnTo>
                  <a:pt x="6370320" y="562024"/>
                </a:lnTo>
                <a:lnTo>
                  <a:pt x="6949440" y="763540"/>
                </a:lnTo>
                <a:lnTo>
                  <a:pt x="7528560" y="725492"/>
                </a:lnTo>
                <a:lnTo>
                  <a:pt x="8107680" y="719938"/>
                </a:lnTo>
                <a:lnTo>
                  <a:pt x="8686800" y="706841"/>
                </a:lnTo>
                <a:lnTo>
                  <a:pt x="9265920" y="314585"/>
                </a:lnTo>
                <a:lnTo>
                  <a:pt x="9845040" y="666305"/>
                </a:lnTo>
                <a:lnTo>
                  <a:pt x="10424160" y="0"/>
                </a:lnTo>
                <a:lnTo>
                  <a:pt x="11003280" y="430222"/>
                </a:lnTo>
                <a:lnTo>
                  <a:pt x="11582400" y="1015705"/>
                </a:lnTo>
                <a:lnTo>
                  <a:pt x="12161520" y="2747119"/>
                </a:lnTo>
                <a:lnTo>
                  <a:pt x="12161520" y="3017520"/>
                </a:lnTo>
                <a:close/>
              </a:path>
            </a:pathLst>
          </a:custGeom>
          <a:solidFill>
            <a:srgbClr val="A78BFA">
              <a:alpha val="55000"/>
            </a:srgbClr>
          </a:solidFill>
          <a:ln w="381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!!obr1" descr="ob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0" y="914400"/>
            <a:ext cx="5486400" cy="3836416"/>
          </a:xfrm>
          <a:prstGeom prst="rect">
            <a:avLst/>
          </a:prstGeom>
          <a:ln w="12700">
            <a:solidFill>
              <a:srgbClr val="2A2E35"/>
            </a:solidFill>
          </a:ln>
        </p:spPr>
      </p:pic>
      <p:pic>
        <p:nvPicPr>
          <p:cNvPr id="6" name="!!obr2" descr="scen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0" y="914400"/>
            <a:ext cx="5486400" cy="3836416"/>
          </a:xfrm>
          <a:prstGeom prst="rect">
            <a:avLst/>
          </a:prstGeom>
          <a:ln w="12700">
            <a:solidFill>
              <a:srgbClr val="2A2E35"/>
            </a:solidFill>
          </a:ln>
        </p:spPr>
      </p:pic>
      <p:pic>
        <p:nvPicPr>
          <p:cNvPr id="7" name="!!obr3" descr="sta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0400" y="914400"/>
            <a:ext cx="5486400" cy="3836416"/>
          </a:xfrm>
          <a:prstGeom prst="rect">
            <a:avLst/>
          </a:prstGeom>
          <a:ln w="12700">
            <a:solidFill>
              <a:srgbClr val="2A2E35"/>
            </a:solidFill>
          </a:ln>
        </p:spPr>
      </p:pic>
      <p:sp>
        <p:nvSpPr>
          <p:cNvPr id="8" name="!!stitek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600">
                <a:solidFill>
                  <a:srgbClr val="34D399"/>
                </a:solidFill>
                <a:latin typeface="Segoe UI Semibold"/>
              </a:rPr>
              <a:t>API</a:t>
            </a:r>
          </a:p>
        </p:txBody>
      </p:sp>
      <p:sp>
        <p:nvSpPr>
          <p:cNvPr id="9" name="!!pruh"/>
          <p:cNvSpPr/>
          <p:nvPr/>
        </p:nvSpPr>
        <p:spPr>
          <a:xfrm>
            <a:off x="731520" y="1005840"/>
            <a:ext cx="822960" cy="762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velky"/>
          <p:cNvSpPr txBox="1"/>
          <p:nvPr/>
        </p:nvSpPr>
        <p:spPr>
          <a:xfrm>
            <a:off x="731520" y="1188720"/>
            <a:ext cx="109728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>
                <a:solidFill>
                  <a:srgbClr val="F4F4F2"/>
                </a:solidFill>
                <a:latin typeface="Segoe UI Black"/>
              </a:rPr>
              <a:t>Otevřené API</a:t>
            </a:r>
          </a:p>
          <a:p>
            <a:pPr algn="l">
              <a:lnSpc>
                <a:spcPct val="90000"/>
              </a:lnSpc>
            </a:pPr>
            <a:r>
              <a:rPr sz="12000">
                <a:solidFill>
                  <a:srgbClr val="34D399"/>
                </a:solidFill>
                <a:latin typeface="Segoe UI Black"/>
              </a:rPr>
              <a:t>pro všechny.</a:t>
            </a:r>
          </a:p>
        </p:txBody>
      </p:sp>
      <p:sp>
        <p:nvSpPr>
          <p:cNvPr id="11" name="!!sub"/>
          <p:cNvSpPr txBox="1"/>
          <p:nvPr/>
        </p:nvSpPr>
        <p:spPr>
          <a:xfrm>
            <a:off x="777240" y="49834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2800">
                <a:solidFill>
                  <a:srgbClr val="8B9099"/>
                </a:solidFill>
                <a:latin typeface="Segoe UI"/>
              </a:rPr>
              <a:t>/api/v1 · CSV · JSON · bez registrace</a:t>
            </a:r>
          </a:p>
        </p:txBody>
      </p:sp>
      <p:sp>
        <p:nvSpPr>
          <p:cNvPr id="12" name="!!kod"/>
          <p:cNvSpPr txBox="1"/>
          <p:nvPr/>
        </p:nvSpPr>
        <p:spPr>
          <a:xfrm>
            <a:off x="777240" y="56692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2000">
                <a:solidFill>
                  <a:srgbClr val="34D399"/>
                </a:solidFill>
                <a:latin typeface="Consolas"/>
              </a:rPr>
              <a:t>GET  hack-a-ton-hushkys.web.app/api/v1/hodnoty?uzemi=obec:574121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kruh"/>
          <p:cNvSpPr/>
          <p:nvPr/>
        </p:nvSpPr>
        <p:spPr>
          <a:xfrm>
            <a:off x="8412480" y="-2560320"/>
            <a:ext cx="6217920" cy="6217920"/>
          </a:xfrm>
          <a:prstGeom prst="ellipse">
            <a:avLst/>
          </a:prstGeom>
          <a:solidFill>
            <a:srgbClr val="8EE06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kruh2"/>
          <p:cNvSpPr/>
          <p:nvPr/>
        </p:nvSpPr>
        <p:spPr>
          <a:xfrm>
            <a:off x="914400" y="6126480"/>
            <a:ext cx="457200" cy="457200"/>
          </a:xfrm>
          <a:prstGeom prst="ellipse">
            <a:avLst/>
          </a:prstGeom>
          <a:solidFill>
            <a:srgbClr val="FF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graf"/>
          <p:cNvSpPr/>
          <p:nvPr/>
        </p:nvSpPr>
        <p:spPr>
          <a:xfrm>
            <a:off x="14630400" y="3840480"/>
            <a:ext cx="12161520" cy="3017520"/>
          </a:xfrm>
          <a:custGeom>
            <a:avLst/>
            <a:gdLst/>
            <a:ahLst/>
            <a:cxnLst/>
            <a:rect l="l" t="t" r="r" b="b"/>
            <a:pathLst>
              <a:path w="12161520" h="3017520">
                <a:moveTo>
                  <a:pt x="0" y="3017520"/>
                </a:moveTo>
                <a:lnTo>
                  <a:pt x="0" y="1723457"/>
                </a:lnTo>
                <a:lnTo>
                  <a:pt x="579120" y="1725115"/>
                </a:lnTo>
                <a:lnTo>
                  <a:pt x="1158240" y="1682093"/>
                </a:lnTo>
                <a:lnTo>
                  <a:pt x="1737360" y="1680352"/>
                </a:lnTo>
                <a:lnTo>
                  <a:pt x="2316480" y="1665182"/>
                </a:lnTo>
                <a:lnTo>
                  <a:pt x="2895600" y="1427441"/>
                </a:lnTo>
                <a:lnTo>
                  <a:pt x="3474720" y="1427939"/>
                </a:lnTo>
                <a:lnTo>
                  <a:pt x="4053840" y="1547058"/>
                </a:lnTo>
                <a:lnTo>
                  <a:pt x="4632960" y="1546395"/>
                </a:lnTo>
                <a:lnTo>
                  <a:pt x="5212080" y="1388564"/>
                </a:lnTo>
                <a:lnTo>
                  <a:pt x="5791200" y="1416748"/>
                </a:lnTo>
                <a:lnTo>
                  <a:pt x="6370320" y="562024"/>
                </a:lnTo>
                <a:lnTo>
                  <a:pt x="6949440" y="763540"/>
                </a:lnTo>
                <a:lnTo>
                  <a:pt x="7528560" y="725492"/>
                </a:lnTo>
                <a:lnTo>
                  <a:pt x="8107680" y="719938"/>
                </a:lnTo>
                <a:lnTo>
                  <a:pt x="8686800" y="706841"/>
                </a:lnTo>
                <a:lnTo>
                  <a:pt x="9265920" y="314585"/>
                </a:lnTo>
                <a:lnTo>
                  <a:pt x="9845040" y="666305"/>
                </a:lnTo>
                <a:lnTo>
                  <a:pt x="10424160" y="0"/>
                </a:lnTo>
                <a:lnTo>
                  <a:pt x="11003280" y="430222"/>
                </a:lnTo>
                <a:lnTo>
                  <a:pt x="11582400" y="1015705"/>
                </a:lnTo>
                <a:lnTo>
                  <a:pt x="12161520" y="2747119"/>
                </a:lnTo>
                <a:lnTo>
                  <a:pt x="12161520" y="3017520"/>
                </a:lnTo>
                <a:close/>
              </a:path>
            </a:pathLst>
          </a:custGeom>
          <a:solidFill>
            <a:srgbClr val="A78BFA">
              <a:alpha val="55000"/>
            </a:srgbClr>
          </a:solidFill>
          <a:ln w="381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!!obr1" descr="ob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0" y="914400"/>
            <a:ext cx="5486400" cy="3836416"/>
          </a:xfrm>
          <a:prstGeom prst="rect">
            <a:avLst/>
          </a:prstGeom>
          <a:ln w="12700">
            <a:solidFill>
              <a:srgbClr val="2A2E35"/>
            </a:solidFill>
          </a:ln>
        </p:spPr>
      </p:pic>
      <p:pic>
        <p:nvPicPr>
          <p:cNvPr id="6" name="!!obr2" descr="scen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0" y="914400"/>
            <a:ext cx="5486400" cy="3836416"/>
          </a:xfrm>
          <a:prstGeom prst="rect">
            <a:avLst/>
          </a:prstGeom>
          <a:ln w="12700">
            <a:solidFill>
              <a:srgbClr val="2A2E35"/>
            </a:solidFill>
          </a:ln>
        </p:spPr>
      </p:pic>
      <p:pic>
        <p:nvPicPr>
          <p:cNvPr id="7" name="!!obr3" descr="sta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0400" y="914400"/>
            <a:ext cx="5486400" cy="3836416"/>
          </a:xfrm>
          <a:prstGeom prst="rect">
            <a:avLst/>
          </a:prstGeom>
          <a:ln w="12700">
            <a:solidFill>
              <a:srgbClr val="2A2E35"/>
            </a:solidFill>
          </a:ln>
        </p:spPr>
      </p:pic>
      <p:sp>
        <p:nvSpPr>
          <p:cNvPr id="8" name="!!stitek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600">
                <a:solidFill>
                  <a:srgbClr val="8EE06A"/>
                </a:solidFill>
                <a:latin typeface="Segoe UI Semibold"/>
              </a:rPr>
              <a:t>TÝM</a:t>
            </a:r>
          </a:p>
        </p:txBody>
      </p:sp>
      <p:sp>
        <p:nvSpPr>
          <p:cNvPr id="9" name="!!pruh"/>
          <p:cNvSpPr/>
          <p:nvPr/>
        </p:nvSpPr>
        <p:spPr>
          <a:xfrm>
            <a:off x="731520" y="1005840"/>
            <a:ext cx="822960" cy="76200"/>
          </a:xfrm>
          <a:prstGeom prst="rect">
            <a:avLst/>
          </a:prstGeom>
          <a:solidFill>
            <a:srgbClr val="8EE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velky"/>
          <p:cNvSpPr txBox="1"/>
          <p:nvPr/>
        </p:nvSpPr>
        <p:spPr>
          <a:xfrm>
            <a:off x="731520" y="1234440"/>
            <a:ext cx="10972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4000">
                <a:solidFill>
                  <a:srgbClr val="F4F4F2"/>
                </a:solidFill>
                <a:latin typeface="Segoe UI Black"/>
              </a:rPr>
              <a:t>Popojedem</a:t>
            </a:r>
            <a:r>
              <a:rPr sz="14000">
                <a:solidFill>
                  <a:srgbClr val="8EE06A"/>
                </a:solidFill>
                <a:latin typeface="Segoe UI Black"/>
              </a:rPr>
              <a:t>.</a:t>
            </a:r>
          </a:p>
        </p:txBody>
      </p:sp>
      <p:sp>
        <p:nvSpPr>
          <p:cNvPr id="11" name="!!clen1"/>
          <p:cNvSpPr txBox="1"/>
          <p:nvPr/>
        </p:nvSpPr>
        <p:spPr>
          <a:xfrm>
            <a:off x="777240" y="3840480"/>
            <a:ext cx="5120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>
                <a:solidFill>
                  <a:srgbClr val="F4F4F2"/>
                </a:solidFill>
                <a:latin typeface="Segoe UI Semibold"/>
              </a:rPr>
              <a:t>Ondřej Hušek</a:t>
            </a:r>
          </a:p>
          <a:p>
            <a:pPr algn="l">
              <a:lnSpc>
                <a:spcPct val="105000"/>
              </a:lnSpc>
            </a:pPr>
            <a:r>
              <a:rPr sz="2600">
                <a:solidFill>
                  <a:srgbClr val="8B9099"/>
                </a:solidFill>
                <a:latin typeface="Segoe UI Semibold"/>
              </a:rPr>
              <a:t>vývoj, architektura a AI</a:t>
            </a:r>
          </a:p>
        </p:txBody>
      </p:sp>
      <p:sp>
        <p:nvSpPr>
          <p:cNvPr id="12" name="!!clen2"/>
          <p:cNvSpPr txBox="1"/>
          <p:nvPr/>
        </p:nvSpPr>
        <p:spPr>
          <a:xfrm>
            <a:off x="6263640" y="3840480"/>
            <a:ext cx="5120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>
                <a:solidFill>
                  <a:srgbClr val="F4F4F2"/>
                </a:solidFill>
                <a:latin typeface="Segoe UI Semibold"/>
              </a:rPr>
              <a:t>Matěj Jirásek</a:t>
            </a:r>
          </a:p>
          <a:p>
            <a:pPr algn="l">
              <a:lnSpc>
                <a:spcPct val="105000"/>
              </a:lnSpc>
            </a:pPr>
            <a:r>
              <a:rPr sz="2600">
                <a:solidFill>
                  <a:srgbClr val="8B9099"/>
                </a:solidFill>
                <a:latin typeface="Segoe UI Semibold"/>
              </a:rPr>
              <a:t>UX/UI design</a:t>
            </a:r>
          </a:p>
        </p:txBody>
      </p:sp>
      <p:sp>
        <p:nvSpPr>
          <p:cNvPr id="13" name="!!clen3"/>
          <p:cNvSpPr txBox="1"/>
          <p:nvPr/>
        </p:nvSpPr>
        <p:spPr>
          <a:xfrm>
            <a:off x="777240" y="5120640"/>
            <a:ext cx="5120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>
                <a:solidFill>
                  <a:srgbClr val="F4F4F2"/>
                </a:solidFill>
                <a:latin typeface="Segoe UI Semibold"/>
              </a:rPr>
              <a:t>Josef Efler</a:t>
            </a:r>
          </a:p>
          <a:p>
            <a:pPr algn="l">
              <a:lnSpc>
                <a:spcPct val="105000"/>
              </a:lnSpc>
            </a:pPr>
            <a:r>
              <a:rPr sz="2600">
                <a:solidFill>
                  <a:srgbClr val="8B9099"/>
                </a:solidFill>
                <a:latin typeface="Segoe UI Semibold"/>
              </a:rPr>
              <a:t>brand, marketing a legal</a:t>
            </a:r>
          </a:p>
        </p:txBody>
      </p:sp>
      <p:sp>
        <p:nvSpPr>
          <p:cNvPr id="14" name="!!clen4"/>
          <p:cNvSpPr txBox="1"/>
          <p:nvPr/>
        </p:nvSpPr>
        <p:spPr>
          <a:xfrm>
            <a:off x="6263640" y="5120640"/>
            <a:ext cx="5120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>
                <a:solidFill>
                  <a:srgbClr val="F4F4F2"/>
                </a:solidFill>
                <a:latin typeface="Segoe UI Semibold"/>
              </a:rPr>
              <a:t>Damián Roháček</a:t>
            </a:r>
          </a:p>
          <a:p>
            <a:pPr algn="l">
              <a:lnSpc>
                <a:spcPct val="105000"/>
              </a:lnSpc>
            </a:pPr>
            <a:r>
              <a:rPr sz="2600">
                <a:solidFill>
                  <a:srgbClr val="8B9099"/>
                </a:solidFill>
                <a:latin typeface="Segoe UI Semibold"/>
              </a:rPr>
              <a:t>backend a testování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